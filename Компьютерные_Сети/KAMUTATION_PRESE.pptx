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3047610-135F-49C7-AF29-BE36E3EB35F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220"/>
    <a:srgbClr val="152543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990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471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876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225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977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629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544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875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0350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99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77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98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>
            <a:extLst>
              <a:ext uri="{FF2B5EF4-FFF2-40B4-BE49-F238E27FC236}">
                <a16:creationId xmlns:a16="http://schemas.microsoft.com/office/drawing/2014/main" id="{3FDB61E6-2CA0-0599-7F95-982AD769FF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9643"/>
          <a:stretch>
            <a:fillRect/>
          </a:stretch>
        </p:blipFill>
        <p:spPr>
          <a:xfrm>
            <a:off x="20" y="-105236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F39F9C-FCCD-32DC-0224-4892EAC7D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570" y="290445"/>
            <a:ext cx="9525000" cy="1699198"/>
          </a:xfrm>
        </p:spPr>
        <p:txBody>
          <a:bodyPr anchor="b">
            <a:normAutofit fontScale="90000"/>
          </a:bodyPr>
          <a:lstStyle/>
          <a:p>
            <a:r>
              <a:rPr lang="ru-RU" dirty="0">
                <a:solidFill>
                  <a:srgbClr val="FFFFFF"/>
                </a:solidFill>
              </a:rPr>
              <a:t>Коммутация каналов и пакетов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15EEDD-DB3C-6E7C-9CB2-9FF3C9116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570" y="5470670"/>
            <a:ext cx="7393922" cy="729812"/>
          </a:xfrm>
        </p:spPr>
        <p:txBody>
          <a:bodyPr anchor="t">
            <a:normAutofit/>
          </a:bodyPr>
          <a:lstStyle/>
          <a:p>
            <a:r>
              <a:rPr lang="ru-RU" dirty="0">
                <a:solidFill>
                  <a:srgbClr val="FFFFFF"/>
                </a:solidFill>
              </a:rPr>
              <a:t>Выполнил: Абдиллатов Белек Нариманович</a:t>
            </a:r>
          </a:p>
        </p:txBody>
      </p:sp>
    </p:spTree>
    <p:extLst>
      <p:ext uri="{BB962C8B-B14F-4D97-AF65-F5344CB8AC3E}">
        <p14:creationId xmlns:p14="http://schemas.microsoft.com/office/powerpoint/2010/main" val="1674174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6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Подключение к цифровой сети">
            <a:extLst>
              <a:ext uri="{FF2B5EF4-FFF2-40B4-BE49-F238E27FC236}">
                <a16:creationId xmlns:a16="http://schemas.microsoft.com/office/drawing/2014/main" id="{1D0B7812-6129-A5CA-1F0A-4C2192B830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8" r="26501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39542-D56B-A93F-CBF0-54AA8C09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Введение</a:t>
            </a:r>
            <a:r>
              <a:rPr lang="en-US" sz="4000" dirty="0">
                <a:solidFill>
                  <a:schemeClr val="bg1"/>
                </a:solidFill>
              </a:rPr>
              <a:t> в </a:t>
            </a:r>
            <a:r>
              <a:rPr lang="en-US" sz="4000" dirty="0" err="1">
                <a:solidFill>
                  <a:schemeClr val="bg1"/>
                </a:solidFill>
              </a:rPr>
              <a:t>понятие</a:t>
            </a:r>
            <a:r>
              <a:rPr lang="en-US" sz="4000" dirty="0">
                <a:solidFill>
                  <a:schemeClr val="bg1"/>
                </a:solidFill>
              </a:rPr>
              <a:t> «</a:t>
            </a:r>
            <a:r>
              <a:rPr lang="en-US" sz="4000" dirty="0" err="1">
                <a:solidFill>
                  <a:schemeClr val="bg1"/>
                </a:solidFill>
              </a:rPr>
              <a:t>Коммутация</a:t>
            </a:r>
            <a:r>
              <a:rPr lang="en-US" sz="4000" dirty="0">
                <a:solidFill>
                  <a:schemeClr val="bg1"/>
                </a:solidFill>
              </a:rPr>
              <a:t>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66B41-2C5F-2C75-F752-E357ED5F8550}"/>
              </a:ext>
            </a:extLst>
          </p:cNvPr>
          <p:cNvSpPr txBox="1"/>
          <p:nvPr/>
        </p:nvSpPr>
        <p:spPr>
          <a:xfrm>
            <a:off x="5819775" y="2370671"/>
            <a:ext cx="5542882" cy="3869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SzPct val="87000"/>
            </a:pPr>
            <a:r>
              <a:rPr lang="ru-RU" sz="1700" dirty="0">
                <a:solidFill>
                  <a:schemeClr val="bg1"/>
                </a:solidFill>
              </a:rPr>
              <a:t>   </a:t>
            </a:r>
            <a:r>
              <a:rPr lang="en-US" sz="1700" dirty="0" err="1">
                <a:solidFill>
                  <a:schemeClr val="bg1"/>
                </a:solidFill>
              </a:rPr>
              <a:t>Коммутация</a:t>
            </a:r>
            <a:r>
              <a:rPr lang="en-US" sz="1700" dirty="0">
                <a:solidFill>
                  <a:schemeClr val="bg1"/>
                </a:solidFill>
              </a:rPr>
              <a:t> — </a:t>
            </a:r>
            <a:r>
              <a:rPr lang="en-US" sz="1700" dirty="0" err="1">
                <a:solidFill>
                  <a:schemeClr val="bg1"/>
                </a:solidFill>
              </a:rPr>
              <a:t>это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процесс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соединения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переключения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или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выбора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пути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для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передачи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данных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отправителем</a:t>
            </a:r>
            <a:r>
              <a:rPr lang="en-US" sz="1700" dirty="0">
                <a:solidFill>
                  <a:schemeClr val="bg1"/>
                </a:solidFill>
              </a:rPr>
              <a:t> и </a:t>
            </a:r>
            <a:r>
              <a:rPr lang="en-US" sz="1700" dirty="0" err="1">
                <a:solidFill>
                  <a:schemeClr val="bg1"/>
                </a:solidFill>
              </a:rPr>
              <a:t>получателем</a:t>
            </a:r>
            <a:r>
              <a:rPr lang="en-US" sz="1700" dirty="0">
                <a:solidFill>
                  <a:schemeClr val="bg1"/>
                </a:solidFill>
              </a:rPr>
              <a:t>. В </a:t>
            </a:r>
            <a:r>
              <a:rPr lang="en-US" sz="1700" dirty="0" err="1">
                <a:solidFill>
                  <a:schemeClr val="bg1"/>
                </a:solidFill>
              </a:rPr>
              <a:t>целом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это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основа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управления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потоками</a:t>
            </a:r>
            <a:r>
              <a:rPr lang="en-US" sz="1700" dirty="0">
                <a:solidFill>
                  <a:schemeClr val="bg1"/>
                </a:solidFill>
              </a:rPr>
              <a:t>: </a:t>
            </a:r>
            <a:r>
              <a:rPr lang="en-US" sz="1700" dirty="0" err="1">
                <a:solidFill>
                  <a:schemeClr val="bg1"/>
                </a:solidFill>
              </a:rPr>
              <a:t>от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соединения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телефонных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линий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до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маршрутизации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данных</a:t>
            </a:r>
            <a:r>
              <a:rPr lang="en-US" sz="1700" dirty="0">
                <a:solidFill>
                  <a:schemeClr val="bg1"/>
                </a:solidFill>
              </a:rPr>
              <a:t> в </a:t>
            </a:r>
            <a:r>
              <a:rPr lang="en-US" sz="1700" dirty="0" err="1">
                <a:solidFill>
                  <a:schemeClr val="bg1"/>
                </a:solidFill>
              </a:rPr>
              <a:t>компьютерных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сетях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или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переключения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электрических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цепей</a:t>
            </a:r>
            <a:r>
              <a:rPr lang="en-US" sz="1700" dirty="0">
                <a:solidFill>
                  <a:schemeClr val="bg1"/>
                </a:solidFill>
              </a:rPr>
              <a:t>. 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SzPct val="87000"/>
            </a:pPr>
            <a:r>
              <a:rPr lang="en-US" sz="1700" b="1" dirty="0" err="1">
                <a:solidFill>
                  <a:schemeClr val="bg1"/>
                </a:solidFill>
              </a:rPr>
              <a:t>Основные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аспекты</a:t>
            </a:r>
            <a:r>
              <a:rPr lang="en-US" sz="1700" b="1" dirty="0">
                <a:solidFill>
                  <a:schemeClr val="bg1"/>
                </a:solidFill>
              </a:rPr>
              <a:t> и </a:t>
            </a:r>
            <a:r>
              <a:rPr lang="en-US" sz="1700" b="1" dirty="0" err="1">
                <a:solidFill>
                  <a:schemeClr val="bg1"/>
                </a:solidFill>
              </a:rPr>
              <a:t>принципы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коммутации</a:t>
            </a:r>
            <a:r>
              <a:rPr lang="en-US" sz="1700" b="1" dirty="0">
                <a:solidFill>
                  <a:schemeClr val="bg1"/>
                </a:solidFill>
              </a:rPr>
              <a:t>:</a:t>
            </a:r>
            <a:endParaRPr lang="en-US" sz="1700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SzPct val="87000"/>
            </a:pPr>
            <a:r>
              <a:rPr lang="en-US" sz="1700" b="1" dirty="0" err="1">
                <a:solidFill>
                  <a:schemeClr val="bg1"/>
                </a:solidFill>
              </a:rPr>
              <a:t>Суть</a:t>
            </a:r>
            <a:r>
              <a:rPr lang="en-US" sz="1700" b="1" dirty="0">
                <a:solidFill>
                  <a:schemeClr val="bg1"/>
                </a:solidFill>
              </a:rPr>
              <a:t>: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Установление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физического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или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логического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пути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между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узлами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через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промежуточные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устройства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SzPct val="87000"/>
            </a:pPr>
            <a:r>
              <a:rPr lang="en-US" sz="1700" b="1" dirty="0" err="1">
                <a:solidFill>
                  <a:schemeClr val="bg1"/>
                </a:solidFill>
              </a:rPr>
              <a:t>Типы</a:t>
            </a:r>
            <a:r>
              <a:rPr lang="en-US" sz="1700" b="1" dirty="0">
                <a:solidFill>
                  <a:schemeClr val="bg1"/>
                </a:solidFill>
              </a:rPr>
              <a:t> в </a:t>
            </a:r>
            <a:r>
              <a:rPr lang="en-US" sz="1700" b="1" dirty="0" err="1">
                <a:solidFill>
                  <a:schemeClr val="bg1"/>
                </a:solidFill>
              </a:rPr>
              <a:t>сетях</a:t>
            </a:r>
            <a:r>
              <a:rPr lang="en-US" sz="1700" b="1" dirty="0">
                <a:solidFill>
                  <a:schemeClr val="bg1"/>
                </a:solidFill>
              </a:rPr>
              <a:t>:</a:t>
            </a:r>
            <a:endParaRPr lang="en-US" sz="1700" dirty="0">
              <a:solidFill>
                <a:schemeClr val="bg1"/>
              </a:solidFill>
            </a:endParaRP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bg1"/>
                </a:solidFill>
              </a:rPr>
              <a:t>Коммутация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каналов</a:t>
            </a:r>
            <a:r>
              <a:rPr lang="en-US" sz="1700" b="1" dirty="0">
                <a:solidFill>
                  <a:schemeClr val="bg1"/>
                </a:solidFill>
              </a:rPr>
              <a:t> (</a:t>
            </a:r>
            <a:r>
              <a:rPr lang="en-US" sz="1700" b="1" dirty="0" err="1">
                <a:solidFill>
                  <a:schemeClr val="bg1"/>
                </a:solidFill>
              </a:rPr>
              <a:t>Circiut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Switchong</a:t>
            </a:r>
            <a:r>
              <a:rPr lang="en-US" sz="1700" b="1" dirty="0">
                <a:solidFill>
                  <a:schemeClr val="bg1"/>
                </a:solidFill>
              </a:rPr>
              <a:t>)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700" b="1" dirty="0" err="1">
                <a:solidFill>
                  <a:schemeClr val="bg1"/>
                </a:solidFill>
              </a:rPr>
              <a:t>Коммутация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пакетов</a:t>
            </a:r>
            <a:r>
              <a:rPr lang="en-US" sz="1700" b="1" dirty="0">
                <a:solidFill>
                  <a:schemeClr val="bg1"/>
                </a:solidFill>
              </a:rPr>
              <a:t> (Packet Switching)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32683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6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C8733-0A27-9EC1-F9B4-325819A87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FFFFFF"/>
                </a:solidFill>
              </a:rPr>
              <a:t>Что такое коммутация каналов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DDCFF3-7548-4DE8-53BB-8FE244F99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</a:rPr>
              <a:t>Коммутация каналов— это метод передачи данных, при котором перед началом обмена устанавливается </a:t>
            </a:r>
            <a:r>
              <a:rPr lang="ru-RU" sz="1800" b="1" dirty="0">
                <a:solidFill>
                  <a:schemeClr val="bg1"/>
                </a:solidFill>
              </a:rPr>
              <a:t>выделенный физический путь</a:t>
            </a:r>
            <a:r>
              <a:rPr lang="ru-RU" sz="1800" dirty="0">
                <a:solidFill>
                  <a:schemeClr val="bg1"/>
                </a:solidFill>
              </a:rPr>
              <a:t> (канал) между двумя узлами, который остается монопольно занятым на все время сеанса. Это традиционный способ для телефонных сетей, гарантирующий постоянную скорость и отсутствие задержек, но неэффективный при перерывах в передаче. </a:t>
            </a:r>
          </a:p>
          <a:p>
            <a:pPr marL="0" indent="0">
              <a:buNone/>
            </a:pPr>
            <a:r>
              <a:rPr lang="ru-RU" sz="1800" b="1" dirty="0">
                <a:solidFill>
                  <a:schemeClr val="bg1"/>
                </a:solidFill>
              </a:rPr>
              <a:t>Основные характеристики коммутации каналов:</a:t>
            </a:r>
            <a:endParaRPr lang="ru-RU" sz="1800" dirty="0">
              <a:solidFill>
                <a:schemeClr val="bg1"/>
              </a:solidFill>
            </a:endParaRPr>
          </a:p>
          <a:p>
            <a:r>
              <a:rPr lang="ru-RU" sz="1800" b="1" dirty="0">
                <a:solidFill>
                  <a:schemeClr val="bg1"/>
                </a:solidFill>
              </a:rPr>
              <a:t>Установление соединения:</a:t>
            </a:r>
            <a:r>
              <a:rPr lang="ru-RU" sz="1800" dirty="0">
                <a:solidFill>
                  <a:schemeClr val="bg1"/>
                </a:solidFill>
              </a:rPr>
              <a:t> Перед началом разговора или передачи данных происходит процесс коммутации — физическое объединение промежуточных линий в единый путь.</a:t>
            </a:r>
          </a:p>
          <a:p>
            <a:r>
              <a:rPr lang="ru-RU" sz="1800" b="1" dirty="0">
                <a:solidFill>
                  <a:schemeClr val="bg1"/>
                </a:solidFill>
              </a:rPr>
              <a:t>Монопольное использование:</a:t>
            </a:r>
            <a:r>
              <a:rPr lang="ru-RU" sz="1800" dirty="0">
                <a:solidFill>
                  <a:schemeClr val="bg1"/>
                </a:solidFill>
              </a:rPr>
              <a:t> Зарезервированный путь не может быть использован другими абонентами, даже если данные временно не передаются (например, пауза в разговоре).</a:t>
            </a:r>
          </a:p>
          <a:p>
            <a:r>
              <a:rPr lang="ru-RU" sz="1800" b="1" dirty="0">
                <a:solidFill>
                  <a:schemeClr val="bg1"/>
                </a:solidFill>
              </a:rPr>
              <a:t>Сквозной канал:</a:t>
            </a:r>
            <a:r>
              <a:rPr lang="ru-RU" sz="1800" dirty="0">
                <a:solidFill>
                  <a:schemeClr val="bg1"/>
                </a:solidFill>
              </a:rPr>
              <a:t> Данные передаются непрерывным потоком, а не пакетами, что устраняет необходимость в сложной маршрутизации.</a:t>
            </a:r>
          </a:p>
          <a:p>
            <a:r>
              <a:rPr lang="ru-RU" sz="1800" b="1" dirty="0">
                <a:solidFill>
                  <a:schemeClr val="bg1"/>
                </a:solidFill>
              </a:rPr>
              <a:t>Фиксированная пропускная способность:</a:t>
            </a:r>
            <a:r>
              <a:rPr lang="ru-RU" sz="1800" dirty="0">
                <a:solidFill>
                  <a:schemeClr val="bg1"/>
                </a:solidFill>
              </a:rPr>
              <a:t> Скорость передачи остается постоянной на протяжении всего соединения.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194413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70BAB-C768-5F92-F734-5EEA87EF5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703291"/>
            <a:ext cx="5479719" cy="1201709"/>
          </a:xfrm>
        </p:spPr>
        <p:txBody>
          <a:bodyPr anchor="b"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Принцип работы коммутации каналов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55D710-09D5-DED5-9AD8-DF48724B4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479719" cy="3447832"/>
          </a:xfrm>
        </p:spPr>
        <p:txBody>
          <a:bodyPr anchor="t">
            <a:normAutofit fontScale="77500" lnSpcReduction="20000"/>
          </a:bodyPr>
          <a:lstStyle/>
          <a:p>
            <a:r>
              <a:rPr lang="ru-RU" sz="2200" dirty="0">
                <a:solidFill>
                  <a:schemeClr val="bg1"/>
                </a:solidFill>
              </a:rPr>
              <a:t>Процесс коммутации каналов всегда состоит из трех строгих фаз:</a:t>
            </a:r>
          </a:p>
          <a:p>
            <a:r>
              <a:rPr lang="ru-RU" sz="2200" b="1" dirty="0">
                <a:solidFill>
                  <a:schemeClr val="bg1"/>
                </a:solidFill>
              </a:rPr>
              <a:t>Установление соединения:</a:t>
            </a:r>
            <a:r>
              <a:rPr lang="ru-RU" sz="2200" dirty="0">
                <a:solidFill>
                  <a:schemeClr val="bg1"/>
                </a:solidFill>
              </a:rPr>
              <a:t> Перед передачей данных отправляется специальный запрос. Сеть ищет свободный путь через промежуточные узлы. Если путь найден, ресурсы (полоса пропускания) «бронируются» исключительно под вас.</a:t>
            </a:r>
          </a:p>
          <a:p>
            <a:r>
              <a:rPr lang="ru-RU" sz="2200" b="1" dirty="0">
                <a:solidFill>
                  <a:schemeClr val="bg1"/>
                </a:solidFill>
              </a:rPr>
              <a:t>Передача данных:</a:t>
            </a:r>
            <a:r>
              <a:rPr lang="ru-RU" sz="2200" dirty="0">
                <a:solidFill>
                  <a:schemeClr val="bg1"/>
                </a:solidFill>
              </a:rPr>
              <a:t> Информация идет по установленному «коридору». Так как путь зарезервирован, задержки минимальны и стабильны.</a:t>
            </a:r>
          </a:p>
          <a:p>
            <a:r>
              <a:rPr lang="ru-RU" sz="2200" b="1" dirty="0" err="1">
                <a:solidFill>
                  <a:schemeClr val="bg1"/>
                </a:solidFill>
              </a:rPr>
              <a:t>Разединение</a:t>
            </a:r>
            <a:r>
              <a:rPr lang="ru-RU" sz="2200" b="1" dirty="0">
                <a:solidFill>
                  <a:schemeClr val="bg1"/>
                </a:solidFill>
              </a:rPr>
              <a:t>:</a:t>
            </a:r>
            <a:r>
              <a:rPr lang="ru-RU" sz="2200" dirty="0">
                <a:solidFill>
                  <a:schemeClr val="bg1"/>
                </a:solidFill>
              </a:rPr>
              <a:t> После завершения сеанса ресурсы освобождаются, чтобы их могли использовать другие участники.</a:t>
            </a:r>
          </a:p>
          <a:p>
            <a:pPr marL="0" indent="0">
              <a:buNone/>
            </a:pPr>
            <a:br>
              <a:rPr lang="ru-RU" sz="1400" dirty="0"/>
            </a:br>
            <a:endParaRPr lang="ru-RU" sz="1400" dirty="0"/>
          </a:p>
        </p:txBody>
      </p:sp>
      <p:pic>
        <p:nvPicPr>
          <p:cNvPr id="15" name="Picture 4" descr="Абстрактный дизайн с линиями и финансовыми символами">
            <a:extLst>
              <a:ext uri="{FF2B5EF4-FFF2-40B4-BE49-F238E27FC236}">
                <a16:creationId xmlns:a16="http://schemas.microsoft.com/office/drawing/2014/main" id="{DF03366D-8305-4B95-AC6B-2AE5EE28F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95" r="26586"/>
          <a:stretch>
            <a:fillRect/>
          </a:stretch>
        </p:blipFill>
        <p:spPr>
          <a:xfrm>
            <a:off x="7270812" y="10"/>
            <a:ext cx="4921187" cy="6857990"/>
          </a:xfrm>
          <a:prstGeom prst="rect">
            <a:avLst/>
          </a:prstGeom>
        </p:spPr>
      </p:pic>
      <p:grpSp>
        <p:nvGrpSpPr>
          <p:cNvPr id="16" name="Group 8">
            <a:extLst>
              <a:ext uri="{FF2B5EF4-FFF2-40B4-BE49-F238E27FC236}">
                <a16:creationId xmlns:a16="http://schemas.microsoft.com/office/drawing/2014/main" id="{8CE57D37-C2D0-066B-1AE3-6F4244344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4DCA44-89CF-872A-903F-96C50780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4B0CC4F5-AC85-FFFA-7EB5-33C4FCE90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524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9235D-2DEA-3828-B938-3A6CDB4C8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Плюсы</a:t>
            </a:r>
            <a:r>
              <a:rPr lang="en-US" sz="3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и </a:t>
            </a:r>
            <a:r>
              <a:rPr lang="en-US" sz="3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минусы</a:t>
            </a:r>
            <a:r>
              <a:rPr lang="en-US" sz="3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коммутации</a:t>
            </a:r>
            <a:r>
              <a:rPr lang="en-US" sz="3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каналов</a:t>
            </a:r>
            <a:endParaRPr lang="en-US" sz="3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5CCA97-4E82-C74C-BFCD-60D74EF48A47}"/>
              </a:ext>
            </a:extLst>
          </p:cNvPr>
          <p:cNvSpPr txBox="1"/>
          <p:nvPr/>
        </p:nvSpPr>
        <p:spPr>
          <a:xfrm>
            <a:off x="1392667" y="2398957"/>
            <a:ext cx="9406666" cy="35261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900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600" dirty="0" err="1">
                <a:solidFill>
                  <a:schemeClr val="bg1"/>
                </a:solidFill>
              </a:rPr>
              <a:t>Плюсы</a:t>
            </a:r>
            <a:r>
              <a:rPr lang="en-US" sz="2600" dirty="0">
                <a:solidFill>
                  <a:schemeClr val="bg1"/>
                </a:solidFill>
              </a:rPr>
              <a:t>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Real-time </a:t>
            </a:r>
            <a:r>
              <a:rPr lang="en-US" sz="2600" dirty="0" err="1">
                <a:solidFill>
                  <a:schemeClr val="bg1"/>
                </a:solidFill>
              </a:rPr>
              <a:t>работа</a:t>
            </a:r>
            <a:r>
              <a:rPr lang="en-US" sz="2600" dirty="0">
                <a:solidFill>
                  <a:schemeClr val="bg1"/>
                </a:solidFill>
              </a:rPr>
              <a:t>: </a:t>
            </a:r>
            <a:r>
              <a:rPr lang="en-US" sz="2600" dirty="0" err="1">
                <a:solidFill>
                  <a:schemeClr val="bg1"/>
                </a:solidFill>
              </a:rPr>
              <a:t>Идеально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для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передачи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голоса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или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видео</a:t>
            </a:r>
            <a:r>
              <a:rPr lang="en-US" sz="2600" dirty="0">
                <a:solidFill>
                  <a:schemeClr val="bg1"/>
                </a:solidFill>
              </a:rPr>
              <a:t>, </a:t>
            </a:r>
            <a:r>
              <a:rPr lang="en-US" sz="2600" dirty="0" err="1">
                <a:solidFill>
                  <a:schemeClr val="bg1"/>
                </a:solidFill>
              </a:rPr>
              <a:t>где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критически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важна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стабильность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времени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доставки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bg1"/>
                </a:solidFill>
              </a:rPr>
              <a:t>Простота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логики</a:t>
            </a:r>
            <a:r>
              <a:rPr lang="en-US" sz="2600" dirty="0">
                <a:solidFill>
                  <a:schemeClr val="bg1"/>
                </a:solidFill>
              </a:rPr>
              <a:t>: </a:t>
            </a:r>
            <a:r>
              <a:rPr lang="en-US" sz="2600" dirty="0" err="1">
                <a:solidFill>
                  <a:schemeClr val="bg1"/>
                </a:solidFill>
              </a:rPr>
              <a:t>Узлам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не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нужно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анализировать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каждый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пакет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данных</a:t>
            </a:r>
            <a:r>
              <a:rPr lang="en-US" sz="2600" dirty="0">
                <a:solidFill>
                  <a:schemeClr val="bg1"/>
                </a:solidFill>
              </a:rPr>
              <a:t> и </a:t>
            </a:r>
            <a:r>
              <a:rPr lang="en-US" sz="2600" dirty="0" err="1">
                <a:solidFill>
                  <a:schemeClr val="bg1"/>
                </a:solidFill>
              </a:rPr>
              <a:t>выбирать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маршрут</a:t>
            </a:r>
            <a:r>
              <a:rPr lang="en-US" sz="2600" dirty="0">
                <a:solidFill>
                  <a:schemeClr val="bg1"/>
                </a:solidFill>
              </a:rPr>
              <a:t> — </a:t>
            </a:r>
            <a:r>
              <a:rPr lang="en-US" sz="2600" dirty="0" err="1">
                <a:solidFill>
                  <a:schemeClr val="bg1"/>
                </a:solidFill>
              </a:rPr>
              <a:t>он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определен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заранее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600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600" dirty="0" err="1">
                <a:solidFill>
                  <a:schemeClr val="bg1"/>
                </a:solidFill>
              </a:rPr>
              <a:t>Минусы</a:t>
            </a:r>
            <a:r>
              <a:rPr lang="en-US" sz="2600" dirty="0">
                <a:solidFill>
                  <a:schemeClr val="bg1"/>
                </a:solidFill>
              </a:rPr>
              <a:t>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bg1"/>
                </a:solidFill>
              </a:rPr>
              <a:t>Неэффективность</a:t>
            </a:r>
            <a:r>
              <a:rPr lang="en-US" sz="2600" dirty="0">
                <a:solidFill>
                  <a:schemeClr val="bg1"/>
                </a:solidFill>
              </a:rPr>
              <a:t>: </a:t>
            </a:r>
            <a:r>
              <a:rPr lang="en-US" sz="2600" dirty="0" err="1">
                <a:solidFill>
                  <a:schemeClr val="bg1"/>
                </a:solidFill>
              </a:rPr>
              <a:t>Если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вы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молчите</a:t>
            </a:r>
            <a:r>
              <a:rPr lang="en-US" sz="2600" dirty="0">
                <a:solidFill>
                  <a:schemeClr val="bg1"/>
                </a:solidFill>
              </a:rPr>
              <a:t> в </a:t>
            </a:r>
            <a:r>
              <a:rPr lang="en-US" sz="2600" dirty="0" err="1">
                <a:solidFill>
                  <a:schemeClr val="bg1"/>
                </a:solidFill>
              </a:rPr>
              <a:t>трубку</a:t>
            </a:r>
            <a:r>
              <a:rPr lang="en-US" sz="2600" dirty="0">
                <a:solidFill>
                  <a:schemeClr val="bg1"/>
                </a:solidFill>
              </a:rPr>
              <a:t>, </a:t>
            </a:r>
            <a:r>
              <a:rPr lang="en-US" sz="2600" dirty="0" err="1">
                <a:solidFill>
                  <a:schemeClr val="bg1"/>
                </a:solidFill>
              </a:rPr>
              <a:t>канал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все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равно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занят</a:t>
            </a:r>
            <a:r>
              <a:rPr lang="en-US" sz="2600" dirty="0">
                <a:solidFill>
                  <a:schemeClr val="bg1"/>
                </a:solidFill>
              </a:rPr>
              <a:t> и «</a:t>
            </a:r>
            <a:r>
              <a:rPr lang="en-US" sz="2600" dirty="0" err="1">
                <a:solidFill>
                  <a:schemeClr val="bg1"/>
                </a:solidFill>
              </a:rPr>
              <a:t>простаивает</a:t>
            </a:r>
            <a:r>
              <a:rPr lang="en-US" sz="2600" dirty="0">
                <a:solidFill>
                  <a:schemeClr val="bg1"/>
                </a:solidFill>
              </a:rPr>
              <a:t>» </a:t>
            </a:r>
            <a:r>
              <a:rPr lang="en-US" sz="2600" dirty="0" err="1">
                <a:solidFill>
                  <a:schemeClr val="bg1"/>
                </a:solidFill>
              </a:rPr>
              <a:t>впустую</a:t>
            </a:r>
            <a:r>
              <a:rPr lang="en-US" sz="2600" dirty="0">
                <a:solidFill>
                  <a:schemeClr val="bg1"/>
                </a:solidFill>
              </a:rPr>
              <a:t>. </a:t>
            </a:r>
            <a:r>
              <a:rPr lang="en-US" sz="2600" dirty="0" err="1">
                <a:solidFill>
                  <a:schemeClr val="bg1"/>
                </a:solidFill>
              </a:rPr>
              <a:t>Другие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пользователи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не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могут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его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занять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bg1"/>
                </a:solidFill>
              </a:rPr>
              <a:t>Долгое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ожидание</a:t>
            </a:r>
            <a:r>
              <a:rPr lang="en-US" sz="2600" dirty="0">
                <a:solidFill>
                  <a:schemeClr val="bg1"/>
                </a:solidFill>
              </a:rPr>
              <a:t>: </a:t>
            </a:r>
            <a:r>
              <a:rPr lang="en-US" sz="2600" dirty="0" err="1">
                <a:solidFill>
                  <a:schemeClr val="bg1"/>
                </a:solidFill>
              </a:rPr>
              <a:t>Установление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связи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может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занимать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значительное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время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по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сравнению</a:t>
            </a:r>
            <a:r>
              <a:rPr lang="en-US" sz="2600" dirty="0">
                <a:solidFill>
                  <a:schemeClr val="bg1"/>
                </a:solidFill>
              </a:rPr>
              <a:t> с </a:t>
            </a:r>
            <a:r>
              <a:rPr lang="en-US" sz="2600" dirty="0" err="1">
                <a:solidFill>
                  <a:schemeClr val="bg1"/>
                </a:solidFill>
              </a:rPr>
              <a:t>самой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передачей</a:t>
            </a:r>
            <a:endParaRPr lang="en-US" sz="26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5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8F599D-A1FD-F769-6AAF-9B5A5E60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ru-RU" sz="3200">
                <a:solidFill>
                  <a:srgbClr val="FFFFFF"/>
                </a:solidFill>
              </a:rPr>
              <a:t>Что такое коммутация пакетов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AC8DF1-31CD-3A31-D030-EE0425F9E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1821195"/>
            <a:ext cx="10477108" cy="4330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bg1"/>
                </a:solidFill>
              </a:rPr>
              <a:t>Коммутация пакетов — это технология передачи данных, при которой сообщение разбивается на отдельные части (пакеты), передаваемые независимо друг от друга через общую сеть. В отличие от коммутации каналов, физическая линия не закрепляется за парой абонентов, а используется совместно всеми участниками сети.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bg1"/>
                </a:solidFill>
              </a:rPr>
              <a:t>Основные характеристики коммутации пакетов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Динамическое распределение ресурсов: Пропускная способность канала не закрепляется за пользователем, а выделяется «по требованию» в момент передачи пакета.</a:t>
            </a:r>
          </a:p>
          <a:p>
            <a:r>
              <a:rPr lang="ru-RU" sz="2000" dirty="0">
                <a:solidFill>
                  <a:schemeClr val="bg1"/>
                </a:solidFill>
              </a:rPr>
              <a:t>Отсутствие выделенного соединения: Для передачи данных не нужно заранее выстраивать и удерживать сквозной физический канал.</a:t>
            </a:r>
          </a:p>
          <a:p>
            <a:r>
              <a:rPr lang="ru-RU" sz="2000" dirty="0">
                <a:solidFill>
                  <a:schemeClr val="bg1"/>
                </a:solidFill>
              </a:rPr>
              <a:t>Интеллектуальная маршрутизация: Каждый узел сети (маршрутизатор) принимает самостоятельное решение о том, куда отправить конкретный пакет прямо сейчас.</a:t>
            </a:r>
          </a:p>
          <a:p>
            <a:r>
              <a:rPr lang="ru-RU" sz="2000" dirty="0">
                <a:solidFill>
                  <a:schemeClr val="bg1"/>
                </a:solidFill>
              </a:rPr>
              <a:t>Метод «сохранения и продвижения» (Store-</a:t>
            </a:r>
            <a:r>
              <a:rPr lang="ru-RU" sz="2000" dirty="0" err="1">
                <a:solidFill>
                  <a:schemeClr val="bg1"/>
                </a:solidFill>
              </a:rPr>
              <a:t>and</a:t>
            </a:r>
            <a:r>
              <a:rPr lang="ru-RU" sz="2000" dirty="0">
                <a:solidFill>
                  <a:schemeClr val="bg1"/>
                </a:solidFill>
              </a:rPr>
              <a:t>-</a:t>
            </a:r>
            <a:r>
              <a:rPr lang="ru-RU" sz="2000" dirty="0" err="1">
                <a:solidFill>
                  <a:schemeClr val="bg1"/>
                </a:solidFill>
              </a:rPr>
              <a:t>Forward</a:t>
            </a:r>
            <a:r>
              <a:rPr lang="ru-RU" sz="2000" dirty="0">
                <a:solidFill>
                  <a:schemeClr val="bg1"/>
                </a:solidFill>
              </a:rPr>
              <a:t>): Узел сначала полностью принимает пакет, проверяет его на ошибки и только потом пересылает дальше.</a:t>
            </a: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9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057C7-9E9B-712B-88EF-23AC048A3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1408"/>
            <a:ext cx="4037841" cy="2501980"/>
          </a:xfrm>
        </p:spPr>
        <p:txBody>
          <a:bodyPr anchor="b">
            <a:normAutofit/>
          </a:bodyPr>
          <a:lstStyle/>
          <a:p>
            <a:r>
              <a:rPr lang="ru-RU" sz="4000" dirty="0">
                <a:solidFill>
                  <a:srgbClr val="FFFFFF"/>
                </a:solidFill>
              </a:rPr>
              <a:t>Принцип работы коммутации пакетов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9D147B-D2B0-D12A-07F9-DA35AEBB8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0050" y="649480"/>
            <a:ext cx="7734299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bg1"/>
                </a:solidFill>
              </a:rPr>
              <a:t>Процесс включает три ключевых этапа: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Фрагментация:</a:t>
            </a:r>
            <a:r>
              <a:rPr lang="ru-RU" sz="2000" dirty="0">
                <a:solidFill>
                  <a:schemeClr val="bg1"/>
                </a:solidFill>
              </a:rPr>
              <a:t> Исходные данные делятся на пакеты, к каждому из которых добавляется заголовок (адрес получателя и номер для сборки).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Независимая маршрутизация:</a:t>
            </a:r>
            <a:r>
              <a:rPr lang="ru-RU" sz="2000" dirty="0">
                <a:solidFill>
                  <a:schemeClr val="bg1"/>
                </a:solidFill>
              </a:rPr>
              <a:t> Каждый пакет передается от узла к узлу (маршрутизатору). Путь для каждого пакета может выбираться динамически в зависимости от загрузки сети.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Реассемблирование:</a:t>
            </a:r>
            <a:r>
              <a:rPr lang="ru-RU" sz="2000" dirty="0">
                <a:solidFill>
                  <a:schemeClr val="bg1"/>
                </a:solidFill>
              </a:rPr>
              <a:t> На стороне получателя пакеты собираются в исходном порядке на основе данных </a:t>
            </a:r>
            <a:r>
              <a:rPr lang="ru-RU" sz="2000" dirty="0"/>
              <a:t>из заголовков.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18044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63455-2D81-08F7-5D65-7A7EB8864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rgbClr val="FFFFFF"/>
                </a:solidFill>
              </a:rPr>
              <a:t>Плюсы и минусы коммутации пакетов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D3D29D-3FE0-9713-8BDD-D0D7467D7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885278"/>
            <a:ext cx="11145747" cy="46781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Плюсы: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Высокая эффективность:</a:t>
            </a:r>
            <a:r>
              <a:rPr lang="ru-RU" sz="2000" dirty="0">
                <a:solidFill>
                  <a:schemeClr val="bg1"/>
                </a:solidFill>
              </a:rPr>
              <a:t> Рациональное использование пропускной способности (каналы не простаивают).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Отказоустойчивость:</a:t>
            </a:r>
            <a:r>
              <a:rPr lang="ru-RU" sz="2000" dirty="0">
                <a:solidFill>
                  <a:schemeClr val="bg1"/>
                </a:solidFill>
              </a:rPr>
              <a:t> Если один узел выйдет из строя, пакеты автоматически пойдут в обход.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Масштабируемость:</a:t>
            </a:r>
            <a:r>
              <a:rPr lang="ru-RU" sz="2000" dirty="0">
                <a:solidFill>
                  <a:schemeClr val="bg1"/>
                </a:solidFill>
              </a:rPr>
              <a:t> К сети можно одновременно подключить огромное количество пользователей.</a:t>
            </a:r>
          </a:p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</a:rPr>
              <a:t>Минусы: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Переменная задержка (джиттер):</a:t>
            </a:r>
            <a:r>
              <a:rPr lang="ru-RU" sz="2000" dirty="0">
                <a:solidFill>
                  <a:schemeClr val="bg1"/>
                </a:solidFill>
              </a:rPr>
              <a:t> Время доставки пакетов может меняться, что критично для некоторых онлайн-сервисов.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Риск потери данных:</a:t>
            </a:r>
            <a:r>
              <a:rPr lang="ru-RU" sz="2000" dirty="0">
                <a:solidFill>
                  <a:schemeClr val="bg1"/>
                </a:solidFill>
              </a:rPr>
              <a:t> При перегрузке промежуточных узлов пакеты могут быть отброшены (требуется повторная отправка).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Сложность обработки:</a:t>
            </a:r>
            <a:r>
              <a:rPr lang="ru-RU" sz="2000" dirty="0">
                <a:solidFill>
                  <a:schemeClr val="bg1"/>
                </a:solidFill>
              </a:rPr>
              <a:t> Требуется мощное оборудование для анализа заголовков и маршрутизации в реальном времени.</a:t>
            </a: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010101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4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FF35859-3DFE-E5DA-DA07-9DC2D0EFE0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" r="-1" b="16805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51B91-8F26-F69A-F4AE-E758623F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 err="1">
                <a:solidFill>
                  <a:schemeClr val="bg1"/>
                </a:solidFill>
              </a:rPr>
              <a:t>Спасибо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r>
              <a:rPr lang="en-US" sz="6600" dirty="0" err="1">
                <a:solidFill>
                  <a:schemeClr val="bg1"/>
                </a:solidFill>
              </a:rPr>
              <a:t>за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r>
              <a:rPr lang="en-US" sz="6600" dirty="0" err="1">
                <a:solidFill>
                  <a:schemeClr val="bg1"/>
                </a:solidFill>
              </a:rPr>
              <a:t>внимание</a:t>
            </a:r>
            <a:r>
              <a:rPr lang="en-US" sz="6600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118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145</TotalTime>
  <Words>717</Words>
  <Application>Microsoft Office PowerPoint</Application>
  <PresentationFormat>Широкоэкранный</PresentationFormat>
  <Paragraphs>53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 2013–2022</vt:lpstr>
      <vt:lpstr>Коммутация каналов и пакетов</vt:lpstr>
      <vt:lpstr>Введение в понятие «Коммутация»</vt:lpstr>
      <vt:lpstr>Что такое коммутация каналов</vt:lpstr>
      <vt:lpstr>Принцип работы коммутации каналов</vt:lpstr>
      <vt:lpstr>Плюсы и минусы коммутации каналов</vt:lpstr>
      <vt:lpstr>Что такое коммутация пакетов</vt:lpstr>
      <vt:lpstr>Принцип работы коммутации пакетов</vt:lpstr>
      <vt:lpstr>Плюсы и минусы коммутации пакетов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Белек Абдилатов</dc:creator>
  <cp:lastModifiedBy>Белек Абдилатов</cp:lastModifiedBy>
  <cp:revision>2</cp:revision>
  <dcterms:created xsi:type="dcterms:W3CDTF">2026-04-16T02:09:06Z</dcterms:created>
  <dcterms:modified xsi:type="dcterms:W3CDTF">2026-04-16T04:34:29Z</dcterms:modified>
</cp:coreProperties>
</file>