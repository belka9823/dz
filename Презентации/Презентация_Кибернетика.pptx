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888D6-33DD-43FE-9409-EE6367406DCA}" v="59" dt="2025-10-06T03:36:39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E7E1D5-55BE-8DA5-20FF-B6DB85593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3EF89F-F766-EBDA-208C-8F0E214F5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077F10-DEEE-E007-DEA1-84DB000B7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434FFB-68DB-570F-9832-4CD86444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B5F3A3-81A9-9401-2A2F-CCF7AEEF9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439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EA484F-8857-F56B-CE62-5F756C37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5CA926-62BA-8B44-54AC-1961E260A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821A09-B7C6-3AEC-0A20-90A0FF57A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F23E5C-2473-BC5D-06F9-CA563273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0F82EB-8772-0E06-7002-CACBBF01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584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AA855-1A90-FB82-EB49-0BC540442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16C2A5-4F71-9D92-0C4F-E53877B7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BA197F-1EFC-B3B5-6B83-7DCCC49F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9659BF-BD45-6832-2A9E-B6CAAAB7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5C93F8-CA31-5A42-C47B-88DE894E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5406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14FC7-2126-B38F-1F7D-46463CD1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EFDA8C-55E0-B244-73E1-F945B3D25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775F9B-8A47-04EA-DBE3-E3364EC6E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0EE234-847B-5ADD-471F-13BEEC23F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D5984C-F79B-3D9F-A2D4-F9BEAFFB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95F531-2783-1396-0243-E66F26C7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992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6D6D1-FA03-633B-BFB0-2E4A483B5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D1BAF3-BE9F-C473-6FB3-DACF433F0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BECBE2-B650-D69F-69C6-510ED10A7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68AD94-D118-1273-1260-7D7629E69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D8C5B84-4F28-4D80-080E-4BB4DF20E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EDA89A-EA65-AAAF-FEE9-DD1D2BA7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91C3C4C-CA46-37E7-E8C7-657E7A50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A5A139-8739-1BDE-EF2D-C3DA3DE9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207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F11FD-6B95-88D2-7B9C-7CF6D28F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C86E8B-E49C-BEBF-3348-41EDEBB4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5ADA32-6344-A1C9-5492-25BF12AF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E5749E-CAF4-8352-2477-8A78DD50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050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5858083-3F96-8799-A36C-935ED78E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AFC511-5E5A-6F92-434F-2B74BD99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B1C60D-5CF9-4C23-EA52-010063C5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512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BA5D9A-8B22-6AF2-778B-1224FE0D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B6AD27-49C9-6DBE-3074-29121E50D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49E211-205E-07FA-376B-572F9FFD7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709514-D7FB-B15A-1E8C-A172D46E6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9D1FF1-6D83-935F-C9EE-18FE5A0C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20647E-CC97-BB16-D943-0CE74A9C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606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8930A7-4FDF-482F-4C27-D8E62C23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44AFB0F-7A1B-6AA7-A3FF-6494D198D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5F4E37-57C5-406E-B05D-D902E587A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0DD552-06E1-B24D-4380-DFFC797E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A416B8-DE37-7C8A-6969-20778A18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F9EA02-100B-FCD3-3D24-0643392D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05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A1BCE-9EB5-BFDE-62DC-8BEF0C5F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BD8E41-B74F-62E4-8121-0E7D2CE2C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403997-27FF-8CFD-BD52-A2B82F2C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2E44A-4DF4-806D-0514-57756259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C59DCA-8766-5CB3-6277-5E5A3291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838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C6840F0-1CFB-F212-B994-0FDA9D009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6AF1BD-FF29-C0CE-5116-AB1B65F09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E7C7DD-CBDF-EBD2-8E43-A9273D37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B1F327-BBFF-C8EE-6A2A-49891A47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C9CF51-E125-8167-13A5-D962466C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4540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EBC60-F0CF-761B-F29C-3BD82063E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26B1AC-C226-E0DC-E17A-08C6674BF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4C6736-D3E5-3E91-0D7D-6C3016E4E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128098-DDBC-2A40-EE0D-C833EBCDA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708311-1C5F-8FD9-F4F1-B97F38135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3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osdpo.ru/speciality/meditsinskaya-kibernetika-40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vk.com/@fundamentalcsu-o-na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" descr="Кристаллическая решетка">
            <a:extLst>
              <a:ext uri="{FF2B5EF4-FFF2-40B4-BE49-F238E27FC236}">
                <a16:creationId xmlns:a16="http://schemas.microsoft.com/office/drawing/2014/main" id="{7EDB546D-13F9-5673-3EE2-D5BB41A097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5800" dirty="0"/>
              <a:t>Кибернетика: Наука об управлении и связи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зарисовка, рисунок, Штриховая графика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BFA720-B3FC-8AE9-CC00-502CCC0D65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2F704-70FB-B5A5-FD72-F54CB464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bg1"/>
                </a:solidFill>
              </a:rPr>
              <a:t>Что такое кибернетика 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AA893-5B33-22CD-2706-334B7EA7D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Кибернетика – это наука об общих закономерностях получения, хранения, преобразования и передачи информации в сложных управляющих системах, будь то машины, живые организмы или общество.</a:t>
            </a:r>
          </a:p>
          <a:p>
            <a:pPr marL="0" indent="0">
              <a:buNone/>
            </a:pPr>
            <a:r>
              <a:rPr lang="ru-RU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Происхождение термина: </a:t>
            </a:r>
            <a:r>
              <a:rPr lang="ru-RU" sz="2200" dirty="0">
                <a:solidFill>
                  <a:schemeClr val="bg1"/>
                </a:solidFill>
              </a:rPr>
              <a:t>от </a:t>
            </a:r>
            <a:r>
              <a:rPr lang="ru-RU" sz="2200" dirty="0" err="1">
                <a:solidFill>
                  <a:schemeClr val="bg1"/>
                </a:solidFill>
              </a:rPr>
              <a:t>др.греч</a:t>
            </a:r>
            <a:r>
              <a:rPr lang="ru-RU" sz="2200" dirty="0">
                <a:solidFill>
                  <a:schemeClr val="bg1"/>
                </a:solidFill>
              </a:rPr>
              <a:t>. </a:t>
            </a:r>
            <a:r>
              <a:rPr lang="ru-RU" sz="2200" dirty="0" err="1">
                <a:solidFill>
                  <a:schemeClr val="bg1"/>
                </a:solidFill>
              </a:rPr>
              <a:t>κυ</a:t>
            </a:r>
            <a:r>
              <a:rPr lang="ru-RU" sz="2200" dirty="0">
                <a:solidFill>
                  <a:schemeClr val="bg1"/>
                </a:solidFill>
              </a:rPr>
              <a:t>βερνητική «искусство управления».</a:t>
            </a:r>
          </a:p>
          <a:p>
            <a:pPr marL="0" indent="0">
              <a:buNone/>
            </a:pPr>
            <a:r>
              <a:rPr lang="ru-RU" sz="2200" dirty="0">
                <a:solidFill>
                  <a:schemeClr val="bg1"/>
                </a:solidFill>
              </a:rPr>
              <a:t>Кибернетика включает изучение обратной связи, чёрных ящиков и производных концептов, таких как управление и коммуникация в живых организмах, машинах и организациях, включая самоорганизации. Она фокусирует внимание на том, как что-либо (цифровое, механическое или биологическое) обрабатывает информацию, реагирует на неё и изменяется или может быть изменено.</a:t>
            </a:r>
            <a:endParaRPr lang="ru-RU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29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863C5-7481-6B66-BB97-F60B388C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30" y="140086"/>
            <a:ext cx="2899189" cy="19279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Рождение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современной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Кибернетики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076210-B7AF-AB20-34E2-B30044DBF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805" y="1412489"/>
            <a:ext cx="3646334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900"/>
              <a:t>Норберт Винер (1894-1964) - американский математик, один из основоположников кибернетики и теории искусственног интеллекта. Профессор MIT.</a:t>
            </a:r>
          </a:p>
          <a:p>
            <a:pPr marL="0"/>
            <a:r>
              <a:rPr lang="en-US" sz="1900"/>
              <a:t>«Кибернетика» Винера увидела свет в 1948 году. Полное название главной книги Винера выглядит следующим образом «Кибернетика, или управление и связь в животном и машине».</a:t>
            </a:r>
          </a:p>
          <a:p>
            <a:pPr marL="0"/>
            <a:endParaRPr lang="en-US" sz="1900"/>
          </a:p>
        </p:txBody>
      </p:sp>
      <p:cxnSp>
        <p:nvCxnSpPr>
          <p:cNvPr id="16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401F5B-7509-E4ED-1F7E-A6F7755B1048}"/>
              </a:ext>
            </a:extLst>
          </p:cNvPr>
          <p:cNvSpPr txBox="1"/>
          <p:nvPr/>
        </p:nvSpPr>
        <p:spPr>
          <a:xfrm>
            <a:off x="8129872" y="1412489"/>
            <a:ext cx="3519434" cy="4832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 err="1"/>
              <a:t>Вклад</a:t>
            </a:r>
            <a:r>
              <a:rPr lang="en-US" sz="1600" dirty="0"/>
              <a:t> </a:t>
            </a:r>
            <a:r>
              <a:rPr lang="en-US" sz="1600" dirty="0" err="1"/>
              <a:t>Винера</a:t>
            </a:r>
            <a:r>
              <a:rPr lang="en-US" sz="1600" dirty="0"/>
              <a:t> в </a:t>
            </a:r>
            <a:r>
              <a:rPr lang="en-US" sz="1600" dirty="0" err="1"/>
              <a:t>Кибернетику</a:t>
            </a:r>
            <a:r>
              <a:rPr lang="en-US" sz="1600" dirty="0"/>
              <a:t>: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 err="1"/>
              <a:t>Сформулировал</a:t>
            </a:r>
            <a:r>
              <a:rPr lang="en-US" sz="1600" b="1" dirty="0"/>
              <a:t> </a:t>
            </a:r>
            <a:r>
              <a:rPr lang="en-US" sz="1600" b="1" dirty="0" err="1"/>
              <a:t>проект</a:t>
            </a:r>
            <a:r>
              <a:rPr lang="en-US" sz="1600" b="1" dirty="0"/>
              <a:t> </a:t>
            </a:r>
            <a:r>
              <a:rPr lang="en-US" sz="1600" b="1" dirty="0" err="1"/>
              <a:t>нового</a:t>
            </a:r>
            <a:r>
              <a:rPr lang="en-US" sz="1600" b="1" dirty="0"/>
              <a:t> </a:t>
            </a:r>
            <a:r>
              <a:rPr lang="en-US" sz="1600" b="1" dirty="0" err="1"/>
              <a:t>научного</a:t>
            </a:r>
            <a:r>
              <a:rPr lang="en-US" sz="1600" b="1" dirty="0"/>
              <a:t> </a:t>
            </a:r>
            <a:r>
              <a:rPr lang="en-US" sz="1600" b="1" dirty="0" err="1"/>
              <a:t>направления</a:t>
            </a:r>
            <a:r>
              <a:rPr lang="en-US" sz="1600" dirty="0"/>
              <a:t>.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 err="1"/>
              <a:t>Впервые</a:t>
            </a:r>
            <a:r>
              <a:rPr lang="en-US" sz="1600" b="1" dirty="0"/>
              <a:t> </a:t>
            </a:r>
            <a:r>
              <a:rPr lang="en-US" sz="1600" b="1" dirty="0" err="1"/>
              <a:t>понял</a:t>
            </a:r>
            <a:r>
              <a:rPr lang="en-US" sz="1600" b="1" dirty="0"/>
              <a:t> </a:t>
            </a:r>
            <a:r>
              <a:rPr lang="en-US" sz="1600" b="1" dirty="0" err="1"/>
              <a:t>принципиальное</a:t>
            </a:r>
            <a:r>
              <a:rPr lang="en-US" sz="1600" b="1" dirty="0"/>
              <a:t> </a:t>
            </a:r>
            <a:r>
              <a:rPr lang="en-US" sz="1600" b="1" dirty="0" err="1"/>
              <a:t>значение</a:t>
            </a:r>
            <a:r>
              <a:rPr lang="en-US" sz="1600" b="1" dirty="0"/>
              <a:t> </a:t>
            </a:r>
            <a:r>
              <a:rPr lang="en-US" sz="1600" b="1" dirty="0" err="1"/>
              <a:t>информации</a:t>
            </a:r>
            <a:r>
              <a:rPr lang="en-US" sz="1600" b="1" dirty="0"/>
              <a:t> в </a:t>
            </a:r>
            <a:r>
              <a:rPr lang="en-US" sz="1600" b="1" dirty="0" err="1"/>
              <a:t>процессах</a:t>
            </a:r>
            <a:r>
              <a:rPr lang="en-US" sz="1600" b="1" dirty="0"/>
              <a:t> </a:t>
            </a:r>
            <a:r>
              <a:rPr lang="en-US" sz="1600" b="1" dirty="0" err="1"/>
              <a:t>управления</a:t>
            </a:r>
            <a:r>
              <a:rPr lang="en-US" sz="1600" dirty="0"/>
              <a:t>.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 err="1"/>
              <a:t>Разработал</a:t>
            </a:r>
            <a:r>
              <a:rPr lang="en-US" sz="1600" b="1" dirty="0"/>
              <a:t> </a:t>
            </a:r>
            <a:r>
              <a:rPr lang="en-US" sz="1600" b="1" dirty="0" err="1"/>
              <a:t>концепцию</a:t>
            </a:r>
            <a:r>
              <a:rPr lang="en-US" sz="1600" b="1" dirty="0"/>
              <a:t> </a:t>
            </a:r>
            <a:r>
              <a:rPr lang="en-US" sz="1600" b="1" dirty="0" err="1"/>
              <a:t>обратной</a:t>
            </a:r>
            <a:r>
              <a:rPr lang="en-US" sz="1600" b="1" dirty="0"/>
              <a:t> </a:t>
            </a:r>
            <a:r>
              <a:rPr lang="en-US" sz="1600" b="1" dirty="0" err="1"/>
              <a:t>связи</a:t>
            </a:r>
            <a:r>
              <a:rPr lang="en-US" sz="1600" b="1" dirty="0"/>
              <a:t> в </a:t>
            </a:r>
            <a:r>
              <a:rPr lang="en-US" sz="1600" b="1" dirty="0" err="1"/>
              <a:t>системах</a:t>
            </a:r>
            <a:r>
              <a:rPr lang="en-US" sz="1600" b="1" dirty="0"/>
              <a:t> </a:t>
            </a:r>
            <a:r>
              <a:rPr lang="en-US" sz="1600" b="1" dirty="0" err="1"/>
              <a:t>автоматического</a:t>
            </a:r>
            <a:r>
              <a:rPr lang="en-US" sz="1600" b="1" dirty="0"/>
              <a:t> </a:t>
            </a:r>
            <a:r>
              <a:rPr lang="en-US" sz="1600" b="1" dirty="0" err="1"/>
              <a:t>управления</a:t>
            </a:r>
            <a:r>
              <a:rPr lang="en-US" sz="1600" dirty="0"/>
              <a:t>. 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 err="1"/>
              <a:t>Проанализировал</a:t>
            </a:r>
            <a:r>
              <a:rPr lang="en-US" sz="1600" b="1" dirty="0"/>
              <a:t>, </a:t>
            </a:r>
            <a:r>
              <a:rPr lang="en-US" sz="1600" b="1" dirty="0" err="1"/>
              <a:t>как</a:t>
            </a:r>
            <a:r>
              <a:rPr lang="en-US" sz="1600" b="1" dirty="0"/>
              <a:t> </a:t>
            </a:r>
            <a:r>
              <a:rPr lang="en-US" sz="1600" b="1" dirty="0" err="1"/>
              <a:t>живые</a:t>
            </a:r>
            <a:r>
              <a:rPr lang="en-US" sz="1600" b="1" dirty="0"/>
              <a:t> </a:t>
            </a:r>
            <a:r>
              <a:rPr lang="en-US" sz="1600" b="1" dirty="0" err="1"/>
              <a:t>организмы</a:t>
            </a:r>
            <a:r>
              <a:rPr lang="en-US" sz="1600" b="1" dirty="0"/>
              <a:t> </a:t>
            </a:r>
            <a:r>
              <a:rPr lang="en-US" sz="1600" b="1" dirty="0" err="1"/>
              <a:t>работают</a:t>
            </a:r>
            <a:r>
              <a:rPr lang="en-US" sz="1600" b="1" dirty="0"/>
              <a:t> с </a:t>
            </a:r>
            <a:r>
              <a:rPr lang="en-US" sz="1600" b="1" dirty="0" err="1"/>
              <a:t>информацией</a:t>
            </a:r>
            <a:r>
              <a:rPr lang="en-US" sz="1600" b="1" dirty="0"/>
              <a:t>, и </a:t>
            </a:r>
            <a:r>
              <a:rPr lang="en-US" sz="1600" b="1" dirty="0" err="1"/>
              <a:t>сформулировал</a:t>
            </a:r>
            <a:r>
              <a:rPr lang="en-US" sz="1600" b="1" dirty="0"/>
              <a:t> </a:t>
            </a:r>
            <a:r>
              <a:rPr lang="en-US" sz="1600" b="1" dirty="0" err="1"/>
              <a:t>принципиальные</a:t>
            </a:r>
            <a:r>
              <a:rPr lang="en-US" sz="1600" b="1" dirty="0"/>
              <a:t> </a:t>
            </a:r>
            <a:r>
              <a:rPr lang="en-US" sz="1600" b="1" dirty="0" err="1"/>
              <a:t>требования</a:t>
            </a:r>
            <a:r>
              <a:rPr lang="en-US" sz="1600" b="1" dirty="0"/>
              <a:t> к </a:t>
            </a:r>
            <a:r>
              <a:rPr lang="en-US" sz="1600" b="1" dirty="0" err="1"/>
              <a:t>вычислительной</a:t>
            </a:r>
            <a:r>
              <a:rPr lang="en-US" sz="1600" b="1" dirty="0"/>
              <a:t> </a:t>
            </a:r>
            <a:r>
              <a:rPr lang="en-US" sz="1600" b="1" dirty="0" err="1"/>
              <a:t>машине</a:t>
            </a:r>
            <a:r>
              <a:rPr lang="en-US" sz="1600" dirty="0"/>
              <a:t>. </a:t>
            </a:r>
          </a:p>
        </p:txBody>
      </p:sp>
      <p:pic>
        <p:nvPicPr>
          <p:cNvPr id="20" name="Рисунок 19" descr="Изображение выглядит как Человеческое лицо, одежда, человек, портре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869DA2-4FBB-F236-1F2B-D1C2CB191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44995"/>
            <a:ext cx="4059050" cy="471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0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C052EA-05E2-403D-965E-52D1BFFA2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5D0BE-6B40-A530-06EC-395481C0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Обратная связь – основа управления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C1936B8-2FFB-4F78-8388-B8C282B8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743D3D-BC23-FE77-0074-2F9C87A9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2055814"/>
            <a:ext cx="5097779" cy="3785785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/>
            <a:r>
              <a:rPr lang="en-US" sz="2000" dirty="0" err="1"/>
              <a:t>Обратная</a:t>
            </a:r>
            <a:r>
              <a:rPr lang="en-US" sz="2000" dirty="0"/>
              <a:t> </a:t>
            </a:r>
            <a:r>
              <a:rPr lang="en-US" sz="2000" dirty="0" err="1"/>
              <a:t>связь</a:t>
            </a:r>
            <a:r>
              <a:rPr lang="en-US" sz="2000" dirty="0"/>
              <a:t> в </a:t>
            </a:r>
            <a:r>
              <a:rPr lang="en-US" sz="2000" dirty="0" err="1"/>
              <a:t>кибернетике</a:t>
            </a:r>
            <a:r>
              <a:rPr lang="en-US" sz="2000" dirty="0"/>
              <a:t> </a:t>
            </a:r>
            <a:r>
              <a:rPr lang="ru-RU" sz="2000" dirty="0"/>
              <a:t>-</a:t>
            </a:r>
            <a:r>
              <a:rPr lang="en-US" sz="2000" dirty="0"/>
              <a:t> </a:t>
            </a:r>
            <a:r>
              <a:rPr lang="en-US" sz="2000" dirty="0" err="1"/>
              <a:t>это</a:t>
            </a:r>
            <a:r>
              <a:rPr lang="en-US" sz="2000" dirty="0"/>
              <a:t> </a:t>
            </a:r>
            <a:r>
              <a:rPr lang="en-US" sz="2000" dirty="0" err="1"/>
              <a:t>процесс</a:t>
            </a:r>
            <a:r>
              <a:rPr lang="en-US" sz="2000" dirty="0"/>
              <a:t>, </a:t>
            </a:r>
            <a:r>
              <a:rPr lang="en-US" sz="2000" dirty="0" err="1"/>
              <a:t>при</a:t>
            </a:r>
            <a:r>
              <a:rPr lang="en-US" sz="2000" dirty="0"/>
              <a:t> </a:t>
            </a:r>
            <a:r>
              <a:rPr lang="en-US" sz="2000" dirty="0" err="1"/>
              <a:t>котором</a:t>
            </a:r>
            <a:r>
              <a:rPr lang="en-US" sz="2000" dirty="0"/>
              <a:t> </a:t>
            </a:r>
            <a:r>
              <a:rPr lang="en-US" sz="2000" dirty="0" err="1"/>
              <a:t>система</a:t>
            </a:r>
            <a:r>
              <a:rPr lang="en-US" sz="2000" dirty="0"/>
              <a:t> </a:t>
            </a:r>
            <a:r>
              <a:rPr lang="en-US" sz="2000" dirty="0" err="1"/>
              <a:t>получает</a:t>
            </a:r>
            <a:r>
              <a:rPr lang="en-US" sz="2000" dirty="0"/>
              <a:t> </a:t>
            </a:r>
            <a:r>
              <a:rPr lang="en-US" sz="2000" dirty="0" err="1"/>
              <a:t>информацию</a:t>
            </a:r>
            <a:r>
              <a:rPr lang="en-US" sz="2000" dirty="0"/>
              <a:t> о </a:t>
            </a:r>
            <a:r>
              <a:rPr lang="en-US" sz="2000" dirty="0" err="1"/>
              <a:t>своих</a:t>
            </a:r>
            <a:r>
              <a:rPr lang="en-US" sz="2000" dirty="0"/>
              <a:t> </a:t>
            </a:r>
            <a:r>
              <a:rPr lang="en-US" sz="2000" dirty="0" err="1"/>
              <a:t>действиях</a:t>
            </a:r>
            <a:r>
              <a:rPr lang="en-US" sz="2000" dirty="0"/>
              <a:t> и </a:t>
            </a:r>
            <a:r>
              <a:rPr lang="en-US" sz="2000" dirty="0" err="1"/>
              <a:t>использует</a:t>
            </a:r>
            <a:r>
              <a:rPr lang="en-US" sz="2000" dirty="0"/>
              <a:t> </a:t>
            </a:r>
            <a:r>
              <a:rPr lang="en-US" sz="2000" dirty="0" err="1"/>
              <a:t>эту</a:t>
            </a:r>
            <a:r>
              <a:rPr lang="en-US" sz="2000" dirty="0"/>
              <a:t> </a:t>
            </a:r>
            <a:r>
              <a:rPr lang="en-US" sz="2000" dirty="0" err="1"/>
              <a:t>информацию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корректировки</a:t>
            </a:r>
            <a:r>
              <a:rPr lang="en-US" sz="2000" dirty="0"/>
              <a:t> </a:t>
            </a:r>
            <a:r>
              <a:rPr lang="en-US" sz="2000" dirty="0" err="1"/>
              <a:t>своего</a:t>
            </a:r>
            <a:r>
              <a:rPr lang="en-US" sz="2000" dirty="0"/>
              <a:t> </a:t>
            </a:r>
            <a:r>
              <a:rPr lang="en-US" sz="2000" dirty="0" err="1"/>
              <a:t>поведения</a:t>
            </a:r>
            <a:r>
              <a:rPr lang="en-US" sz="2000" dirty="0"/>
              <a:t>. </a:t>
            </a:r>
          </a:p>
          <a:p>
            <a:pPr marL="0"/>
            <a:r>
              <a:rPr lang="en-US" sz="2000" dirty="0" err="1"/>
              <a:t>Понятие</a:t>
            </a:r>
            <a:r>
              <a:rPr lang="en-US" sz="2000" dirty="0"/>
              <a:t> </a:t>
            </a:r>
            <a:r>
              <a:rPr lang="en-US" sz="2000" dirty="0" err="1"/>
              <a:t>обратной</a:t>
            </a:r>
            <a:r>
              <a:rPr lang="en-US" sz="2000" dirty="0"/>
              <a:t> </a:t>
            </a:r>
            <a:r>
              <a:rPr lang="en-US" sz="2000" dirty="0" err="1"/>
              <a:t>связи</a:t>
            </a:r>
            <a:r>
              <a:rPr lang="en-US" sz="2000" dirty="0"/>
              <a:t> </a:t>
            </a:r>
            <a:r>
              <a:rPr lang="en-US" sz="2000" dirty="0" err="1"/>
              <a:t>было</a:t>
            </a:r>
            <a:r>
              <a:rPr lang="en-US" sz="2000" dirty="0"/>
              <a:t> </a:t>
            </a:r>
            <a:r>
              <a:rPr lang="en-US" sz="2000" dirty="0" err="1"/>
              <a:t>введено</a:t>
            </a:r>
            <a:r>
              <a:rPr lang="en-US" sz="2000" dirty="0"/>
              <a:t> </a:t>
            </a:r>
            <a:r>
              <a:rPr lang="en-US" sz="2000" dirty="0" err="1"/>
              <a:t>Норбертом</a:t>
            </a:r>
            <a:r>
              <a:rPr lang="en-US" sz="2000" dirty="0"/>
              <a:t> </a:t>
            </a:r>
            <a:r>
              <a:rPr lang="en-US" sz="2000" dirty="0" err="1"/>
              <a:t>Винером</a:t>
            </a:r>
            <a:r>
              <a:rPr lang="en-US" sz="2000" dirty="0"/>
              <a:t> в 1948 </a:t>
            </a:r>
            <a:r>
              <a:rPr lang="en-US" sz="2000" dirty="0" err="1"/>
              <a:t>году</a:t>
            </a:r>
            <a:r>
              <a:rPr lang="en-US" sz="2000" dirty="0"/>
              <a:t> в </a:t>
            </a:r>
            <a:r>
              <a:rPr lang="en-US" sz="2000" dirty="0" err="1"/>
              <a:t>работе</a:t>
            </a:r>
            <a:r>
              <a:rPr lang="en-US" sz="2000" dirty="0"/>
              <a:t> «</a:t>
            </a:r>
            <a:r>
              <a:rPr lang="en-US" sz="2000" dirty="0" err="1"/>
              <a:t>Кибернетика</a:t>
            </a:r>
            <a:r>
              <a:rPr lang="en-US" sz="2000" dirty="0"/>
              <a:t>, </a:t>
            </a:r>
            <a:r>
              <a:rPr lang="en-US" sz="2000" dirty="0" err="1"/>
              <a:t>или</a:t>
            </a:r>
            <a:r>
              <a:rPr lang="en-US" sz="2000" dirty="0"/>
              <a:t> </a:t>
            </a:r>
            <a:r>
              <a:rPr lang="en-US" sz="2000" dirty="0" err="1"/>
              <a:t>управление</a:t>
            </a:r>
            <a:r>
              <a:rPr lang="en-US" sz="2000" dirty="0"/>
              <a:t> и </a:t>
            </a:r>
            <a:r>
              <a:rPr lang="en-US" sz="2000" dirty="0" err="1"/>
              <a:t>связь</a:t>
            </a:r>
            <a:r>
              <a:rPr lang="en-US" sz="2000" dirty="0"/>
              <a:t> в </a:t>
            </a:r>
            <a:r>
              <a:rPr lang="en-US" sz="2000" dirty="0" err="1"/>
              <a:t>животном</a:t>
            </a:r>
            <a:r>
              <a:rPr lang="en-US" sz="2000" dirty="0"/>
              <a:t> и в </a:t>
            </a:r>
            <a:r>
              <a:rPr lang="en-US" sz="2000" dirty="0" err="1"/>
              <a:t>машине</a:t>
            </a:r>
            <a:r>
              <a:rPr lang="en-US" sz="2000" dirty="0"/>
              <a:t>». В </a:t>
            </a:r>
            <a:r>
              <a:rPr lang="en-US" sz="2000" dirty="0" err="1"/>
              <a:t>этой</a:t>
            </a:r>
            <a:r>
              <a:rPr lang="en-US" sz="2000" dirty="0"/>
              <a:t> </a:t>
            </a:r>
            <a:r>
              <a:rPr lang="en-US" sz="2000" dirty="0" err="1"/>
              <a:t>работе</a:t>
            </a:r>
            <a:r>
              <a:rPr lang="en-US" sz="2000" dirty="0"/>
              <a:t> </a:t>
            </a:r>
            <a:r>
              <a:rPr lang="en-US" sz="2000" dirty="0" err="1"/>
              <a:t>обратная</a:t>
            </a:r>
            <a:r>
              <a:rPr lang="en-US" sz="2000" dirty="0"/>
              <a:t> </a:t>
            </a:r>
            <a:r>
              <a:rPr lang="en-US" sz="2000" dirty="0" err="1"/>
              <a:t>связь</a:t>
            </a:r>
            <a:r>
              <a:rPr lang="en-US" sz="2000" dirty="0"/>
              <a:t> </a:t>
            </a:r>
            <a:r>
              <a:rPr lang="en-US" sz="2000" dirty="0" err="1"/>
              <a:t>трактовалась</a:t>
            </a:r>
            <a:r>
              <a:rPr lang="en-US" sz="2000" dirty="0"/>
              <a:t> </a:t>
            </a:r>
            <a:r>
              <a:rPr lang="en-US" sz="2000" dirty="0" err="1"/>
              <a:t>как</a:t>
            </a:r>
            <a:r>
              <a:rPr lang="en-US" sz="2000" dirty="0"/>
              <a:t> </a:t>
            </a:r>
            <a:r>
              <a:rPr lang="en-US" sz="2000" dirty="0" err="1"/>
              <a:t>использование</a:t>
            </a:r>
            <a:r>
              <a:rPr lang="en-US" sz="2000" dirty="0"/>
              <a:t> </a:t>
            </a:r>
            <a:r>
              <a:rPr lang="en-US" sz="2000" dirty="0" err="1"/>
              <a:t>информации</a:t>
            </a:r>
            <a:r>
              <a:rPr lang="en-US" sz="2000" dirty="0"/>
              <a:t>, </a:t>
            </a:r>
            <a:r>
              <a:rPr lang="en-US" sz="2000" dirty="0" err="1"/>
              <a:t>поступающей</a:t>
            </a:r>
            <a:r>
              <a:rPr lang="en-US" sz="2000" dirty="0"/>
              <a:t> </a:t>
            </a:r>
            <a:r>
              <a:rPr lang="en-US" sz="2000" dirty="0" err="1"/>
              <a:t>из</a:t>
            </a:r>
            <a:r>
              <a:rPr lang="en-US" sz="2000" dirty="0"/>
              <a:t> </a:t>
            </a:r>
            <a:r>
              <a:rPr lang="en-US" sz="2000" dirty="0" err="1"/>
              <a:t>внешней</a:t>
            </a:r>
            <a:r>
              <a:rPr lang="en-US" sz="2000" dirty="0"/>
              <a:t> </a:t>
            </a:r>
            <a:r>
              <a:rPr lang="en-US" sz="2000" dirty="0" err="1"/>
              <a:t>среды</a:t>
            </a:r>
            <a:r>
              <a:rPr lang="en-US" sz="2000" dirty="0"/>
              <a:t>,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изменения</a:t>
            </a:r>
            <a:r>
              <a:rPr lang="en-US" sz="2000" dirty="0"/>
              <a:t> </a:t>
            </a:r>
            <a:r>
              <a:rPr lang="en-US" sz="2000" dirty="0" err="1"/>
              <a:t>поведения</a:t>
            </a:r>
            <a:r>
              <a:rPr lang="en-US" sz="2000" dirty="0"/>
              <a:t> </a:t>
            </a:r>
            <a:r>
              <a:rPr lang="en-US" sz="2000" dirty="0" err="1"/>
              <a:t>машины</a:t>
            </a:r>
            <a:r>
              <a:rPr lang="en-US" sz="2000" dirty="0"/>
              <a:t>. </a:t>
            </a:r>
            <a:br>
              <a:rPr lang="en-US" sz="1700" dirty="0"/>
            </a:b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20E44-7972-4A1D-6732-CD93D4C556B8}"/>
              </a:ext>
            </a:extLst>
          </p:cNvPr>
          <p:cNvSpPr txBox="1"/>
          <p:nvPr/>
        </p:nvSpPr>
        <p:spPr>
          <a:xfrm>
            <a:off x="6256020" y="2100579"/>
            <a:ext cx="5374806" cy="4076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Различают</a:t>
            </a:r>
            <a:r>
              <a:rPr lang="en-US" sz="2000" dirty="0"/>
              <a:t> </a:t>
            </a:r>
            <a:r>
              <a:rPr lang="en-US" sz="2000" dirty="0" err="1"/>
              <a:t>положительную</a:t>
            </a:r>
            <a:r>
              <a:rPr lang="en-US" sz="2000" dirty="0"/>
              <a:t> и </a:t>
            </a:r>
            <a:r>
              <a:rPr lang="en-US" sz="2000" dirty="0" err="1"/>
              <a:t>отрицатель</a:t>
            </a:r>
            <a:r>
              <a:rPr lang="ru-RU" sz="2000" dirty="0"/>
              <a:t>ну</a:t>
            </a:r>
            <a:r>
              <a:rPr lang="en-US" sz="2000" dirty="0"/>
              <a:t>ю </a:t>
            </a:r>
            <a:r>
              <a:rPr lang="en-US" sz="2000" dirty="0" err="1"/>
              <a:t>обратную</a:t>
            </a:r>
            <a:r>
              <a:rPr lang="en-US" sz="2000" dirty="0"/>
              <a:t> </a:t>
            </a:r>
            <a:r>
              <a:rPr lang="en-US" sz="2000" dirty="0" err="1"/>
              <a:t>связь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Положительная</a:t>
            </a:r>
            <a:r>
              <a:rPr lang="en-US" sz="2000" dirty="0"/>
              <a:t> </a:t>
            </a:r>
            <a:r>
              <a:rPr lang="ru-RU" sz="2000" dirty="0"/>
              <a:t>- </a:t>
            </a:r>
            <a:r>
              <a:rPr lang="en-US" sz="2000" dirty="0" err="1"/>
              <a:t>результат</a:t>
            </a:r>
            <a:r>
              <a:rPr lang="en-US" sz="2000" dirty="0"/>
              <a:t> </a:t>
            </a:r>
            <a:r>
              <a:rPr lang="en-US" sz="2000" dirty="0" err="1"/>
              <a:t>процесса</a:t>
            </a:r>
            <a:r>
              <a:rPr lang="en-US" sz="2000" dirty="0"/>
              <a:t> </a:t>
            </a:r>
            <a:r>
              <a:rPr lang="en-US" sz="2000" dirty="0" err="1"/>
              <a:t>усиливает</a:t>
            </a:r>
            <a:r>
              <a:rPr lang="en-US" sz="2000" dirty="0"/>
              <a:t> </a:t>
            </a:r>
            <a:r>
              <a:rPr lang="en-US" sz="2000" dirty="0" err="1"/>
              <a:t>процесс</a:t>
            </a:r>
            <a:r>
              <a:rPr lang="en-US" sz="2000" dirty="0"/>
              <a:t>, </a:t>
            </a:r>
            <a:r>
              <a:rPr lang="en-US" sz="2000" dirty="0" err="1"/>
              <a:t>дестабилизируя</a:t>
            </a:r>
            <a:r>
              <a:rPr lang="en-US" sz="2000" dirty="0"/>
              <a:t> </a:t>
            </a:r>
            <a:r>
              <a:rPr lang="en-US" sz="2000" dirty="0" err="1"/>
              <a:t>систему</a:t>
            </a:r>
            <a:r>
              <a:rPr lang="en-US" sz="20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Отрицательная</a:t>
            </a:r>
            <a:r>
              <a:rPr lang="en-US" sz="2000" dirty="0"/>
              <a:t> </a:t>
            </a:r>
            <a:r>
              <a:rPr lang="ru-RU" sz="2000" dirty="0"/>
              <a:t>-</a:t>
            </a:r>
            <a:r>
              <a:rPr lang="en-US" sz="2000" dirty="0"/>
              <a:t> </a:t>
            </a:r>
            <a:r>
              <a:rPr lang="en-US" sz="2000" dirty="0" err="1"/>
              <a:t>результат</a:t>
            </a:r>
            <a:r>
              <a:rPr lang="en-US" sz="2000" dirty="0"/>
              <a:t> </a:t>
            </a:r>
            <a:r>
              <a:rPr lang="en-US" sz="2000" dirty="0" err="1"/>
              <a:t>процесса</a:t>
            </a:r>
            <a:r>
              <a:rPr lang="en-US" sz="2000" dirty="0"/>
              <a:t> </a:t>
            </a:r>
            <a:r>
              <a:rPr lang="en-US" sz="2000" dirty="0" err="1"/>
              <a:t>ослабляет</a:t>
            </a:r>
            <a:r>
              <a:rPr lang="en-US" sz="2000" dirty="0"/>
              <a:t> </a:t>
            </a:r>
            <a:r>
              <a:rPr lang="en-US" sz="2000" dirty="0" err="1"/>
              <a:t>процесс</a:t>
            </a:r>
            <a:r>
              <a:rPr lang="en-US" sz="2000" dirty="0"/>
              <a:t>, </a:t>
            </a:r>
            <a:r>
              <a:rPr lang="en-US" sz="2000" dirty="0" err="1"/>
              <a:t>стабилизируя</a:t>
            </a:r>
            <a:r>
              <a:rPr lang="en-US" sz="2000" dirty="0"/>
              <a:t> </a:t>
            </a:r>
            <a:r>
              <a:rPr lang="en-US" sz="2000" dirty="0" err="1"/>
              <a:t>систему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В </a:t>
            </a:r>
            <a:r>
              <a:rPr lang="en-US" sz="2000" dirty="0" err="1"/>
              <a:t>сложных</a:t>
            </a:r>
            <a:r>
              <a:rPr lang="en-US" sz="2000" dirty="0"/>
              <a:t> </a:t>
            </a:r>
            <a:r>
              <a:rPr lang="en-US" sz="2000" dirty="0" err="1"/>
              <a:t>системах</a:t>
            </a:r>
            <a:r>
              <a:rPr lang="en-US" sz="2000" dirty="0"/>
              <a:t> (</a:t>
            </a:r>
            <a:r>
              <a:rPr lang="en-US" sz="2000" dirty="0" err="1"/>
              <a:t>социальных</a:t>
            </a:r>
            <a:r>
              <a:rPr lang="en-US" sz="2000" dirty="0"/>
              <a:t>, </a:t>
            </a:r>
            <a:r>
              <a:rPr lang="en-US" sz="2000" dirty="0" err="1"/>
              <a:t>биологических</a:t>
            </a:r>
            <a:r>
              <a:rPr lang="en-US" sz="2000" dirty="0"/>
              <a:t> и </a:t>
            </a:r>
            <a:r>
              <a:rPr lang="en-US" sz="2000" dirty="0" err="1"/>
              <a:t>др</a:t>
            </a:r>
            <a:r>
              <a:rPr lang="en-US" sz="2000" dirty="0"/>
              <a:t>.) </a:t>
            </a:r>
            <a:r>
              <a:rPr lang="en-US" sz="2000" dirty="0" err="1"/>
              <a:t>эти</a:t>
            </a:r>
            <a:r>
              <a:rPr lang="en-US" sz="2000" dirty="0"/>
              <a:t> </a:t>
            </a:r>
            <a:r>
              <a:rPr lang="en-US" sz="2000" dirty="0" err="1"/>
              <a:t>два</a:t>
            </a:r>
            <a:r>
              <a:rPr lang="en-US" sz="2000" dirty="0"/>
              <a:t> </a:t>
            </a:r>
            <a:r>
              <a:rPr lang="en-US" sz="2000" dirty="0" err="1"/>
              <a:t>вида</a:t>
            </a:r>
            <a:r>
              <a:rPr lang="en-US" sz="2000" dirty="0"/>
              <a:t> </a:t>
            </a:r>
            <a:r>
              <a:rPr lang="en-US" sz="2000" dirty="0" err="1"/>
              <a:t>обратной</a:t>
            </a:r>
            <a:r>
              <a:rPr lang="en-US" sz="2000" dirty="0"/>
              <a:t> </a:t>
            </a:r>
            <a:r>
              <a:rPr lang="en-US" sz="2000" dirty="0" err="1"/>
              <a:t>связи</a:t>
            </a:r>
            <a:r>
              <a:rPr lang="en-US" sz="2000" dirty="0"/>
              <a:t> </a:t>
            </a:r>
            <a:r>
              <a:rPr lang="en-US" sz="2000" dirty="0" err="1"/>
              <a:t>сочетаются</a:t>
            </a:r>
            <a:r>
              <a:rPr lang="en-US" sz="2000" dirty="0"/>
              <a:t>: </a:t>
            </a:r>
            <a:r>
              <a:rPr lang="en-US" sz="2000" dirty="0" err="1"/>
              <a:t>отрицательная</a:t>
            </a:r>
            <a:r>
              <a:rPr lang="en-US" sz="2000" dirty="0"/>
              <a:t> </a:t>
            </a:r>
            <a:r>
              <a:rPr lang="en-US" sz="2000" dirty="0" err="1"/>
              <a:t>обратная</a:t>
            </a:r>
            <a:r>
              <a:rPr lang="en-US" sz="2000" dirty="0"/>
              <a:t> </a:t>
            </a:r>
            <a:r>
              <a:rPr lang="en-US" sz="2000" dirty="0" err="1"/>
              <a:t>связь</a:t>
            </a:r>
            <a:r>
              <a:rPr lang="en-US" sz="2000" dirty="0"/>
              <a:t> </a:t>
            </a:r>
            <a:r>
              <a:rPr lang="en-US" sz="2000" dirty="0" err="1"/>
              <a:t>стабилизирует</a:t>
            </a:r>
            <a:r>
              <a:rPr lang="en-US" sz="2000" dirty="0"/>
              <a:t> </a:t>
            </a:r>
            <a:r>
              <a:rPr lang="en-US" sz="2000" dirty="0" err="1"/>
              <a:t>глубину</a:t>
            </a:r>
            <a:r>
              <a:rPr lang="en-US" sz="2000" dirty="0"/>
              <a:t> </a:t>
            </a:r>
            <a:r>
              <a:rPr lang="en-US" sz="2000" dirty="0" err="1"/>
              <a:t>положительной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7018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F7788-3C89-8FD7-E9B1-BBADA326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ru-RU" dirty="0"/>
              <a:t>Метод «Чёрного ящика»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32F1AC-8AF2-B488-66F5-DBDD7ED37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900" dirty="0"/>
              <a:t>«Метод чёрного ящика» - метод исследования систем, внутреннее устройство и механизм работы которых очень сложны, неизвестны или неважны в рамках данной задачи.</a:t>
            </a:r>
          </a:p>
          <a:p>
            <a:pPr marL="0" indent="0">
              <a:buNone/>
            </a:pPr>
            <a:r>
              <a:rPr lang="ru-RU" sz="1900" dirty="0"/>
              <a:t>Суть метода в том, что система рассматривается как имеющая «вход» для ввода информации и «выход» для отображения результатов работы, при этом происходящие в ходе работы системы процессы наблюдателю неизвестны. Предполагается, что состояние выходов функционально зависит от состояния входов. </a:t>
            </a:r>
          </a:p>
        </p:txBody>
      </p:sp>
      <p:pic>
        <p:nvPicPr>
          <p:cNvPr id="5" name="Рисунок 4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44801FF-50D9-B24C-C3F1-9C4BC0D2C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073" y="2671434"/>
            <a:ext cx="5505856" cy="2271326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9D85D-9C78-3D86-4A1D-089804C890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91" r="4453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33D2B-7738-BCAC-D56D-B473B48BB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ru-RU" sz="4000"/>
              <a:t>Междисциплинарность кибернетики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325B69-5F20-942D-8AF7-1233D93C1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6106" y="2691684"/>
            <a:ext cx="6429983" cy="407081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sz="1600" dirty="0"/>
              <a:t>Кибернетика делится на различные дисциплины в зависимости от области применения. Некоторые из них:</a:t>
            </a:r>
          </a:p>
          <a:p>
            <a:r>
              <a:rPr lang="ru-RU" sz="1600" dirty="0"/>
              <a:t>Техническая кибернетика - изучение технических систем управления, разработка автоматических устройств и систем.</a:t>
            </a:r>
          </a:p>
          <a:p>
            <a:r>
              <a:rPr lang="ru-RU" sz="1600" dirty="0"/>
              <a:t>Биологическая кибернетика - изучение процессов саморегуляции в биологии и физиологии, закономерностей управления, хранения, переработки и передачи информации в живых системах.</a:t>
            </a:r>
          </a:p>
          <a:p>
            <a:r>
              <a:rPr lang="ru-RU" sz="1600" dirty="0"/>
              <a:t>Медицинская кибернетика - разработка, внедрение и применение компьютерных систем для диагностики, лечения и профилактики заболеваний. </a:t>
            </a:r>
          </a:p>
          <a:p>
            <a:r>
              <a:rPr lang="ru-RU" sz="1600" dirty="0"/>
              <a:t>Психологическая кибернетика - изучение взаимодействия различных анализаторных систем, сфер сознания и бессознательного в процессе формирования поведения, взаимодействия людей между собой и с техническими, экологическими, социальными системами. </a:t>
            </a:r>
            <a:br>
              <a:rPr lang="ru-RU" sz="1600" dirty="0">
                <a:hlinkClick r:id="rId3"/>
              </a:rPr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88347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81A9C-6E46-6461-06E2-AB727978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Кибернетика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и ИИ.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От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управления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к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мышлению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801160-0DDE-B874-DDD0-8A237C41E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000"/>
              <a:t>Кибернетика помогла развитию искусственного интеллекта (ИИ) через заложение теоретических основ, проведение экспериментов и разработку технологий. Работы Норберта Винера, американского математика и философа, заложили основы для понимания того, как можно создать машины, способные к обучению и адаптации. Это влияние проявилось в разных аспектах: в теоретических исследованиях, в экспериментах и в разработке технологий.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B742C-945E-E704-79B2-4ADFD38D55AF}"/>
              </a:ext>
            </a:extLst>
          </p:cNvPr>
          <p:cNvSpPr txBox="1"/>
          <p:nvPr/>
        </p:nvSpPr>
        <p:spPr>
          <a:xfrm>
            <a:off x="6256866" y="2010833"/>
            <a:ext cx="5096933" cy="416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 err="1"/>
              <a:t>Идеи</a:t>
            </a:r>
            <a:r>
              <a:rPr lang="en-US" sz="1700" dirty="0"/>
              <a:t> </a:t>
            </a:r>
            <a:r>
              <a:rPr lang="en-US" sz="1700" dirty="0" err="1"/>
              <a:t>кибернетики</a:t>
            </a:r>
            <a:r>
              <a:rPr lang="en-US" sz="1700" dirty="0"/>
              <a:t> </a:t>
            </a:r>
            <a:r>
              <a:rPr lang="en-US" sz="1700" dirty="0" err="1"/>
              <a:t>вдохновили</a:t>
            </a:r>
            <a:r>
              <a:rPr lang="en-US" sz="1700" dirty="0"/>
              <a:t> </a:t>
            </a:r>
            <a:r>
              <a:rPr lang="en-US" sz="1700" dirty="0" err="1"/>
              <a:t>учёных</a:t>
            </a:r>
            <a:r>
              <a:rPr lang="en-US" sz="1700" dirty="0"/>
              <a:t> </a:t>
            </a:r>
            <a:r>
              <a:rPr lang="en-US" sz="1700" dirty="0" err="1"/>
              <a:t>на</a:t>
            </a:r>
            <a:r>
              <a:rPr lang="en-US" sz="1700" dirty="0"/>
              <a:t> </a:t>
            </a:r>
            <a:r>
              <a:rPr lang="en-US" sz="1700" dirty="0" err="1"/>
              <a:t>создание</a:t>
            </a:r>
            <a:r>
              <a:rPr lang="en-US" sz="1700" dirty="0"/>
              <a:t> </a:t>
            </a:r>
            <a:r>
              <a:rPr lang="en-US" sz="1700" dirty="0" err="1"/>
              <a:t>первых</a:t>
            </a:r>
            <a:r>
              <a:rPr lang="en-US" sz="1700" dirty="0"/>
              <a:t> </a:t>
            </a:r>
            <a:r>
              <a:rPr lang="en-US" sz="1700" dirty="0" err="1"/>
              <a:t>программ</a:t>
            </a:r>
            <a:r>
              <a:rPr lang="en-US" sz="1700" dirty="0"/>
              <a:t> и </a:t>
            </a:r>
            <a:r>
              <a:rPr lang="en-US" sz="1700" dirty="0" err="1"/>
              <a:t>экспериментов</a:t>
            </a:r>
            <a:r>
              <a:rPr lang="en-US" sz="1700" dirty="0"/>
              <a:t> в </a:t>
            </a:r>
            <a:r>
              <a:rPr lang="en-US" sz="1700" dirty="0" err="1"/>
              <a:t>области</a:t>
            </a:r>
            <a:r>
              <a:rPr lang="en-US" sz="1700" dirty="0"/>
              <a:t> ИИ. </a:t>
            </a:r>
            <a:r>
              <a:rPr lang="en-US" sz="1700" dirty="0" err="1"/>
              <a:t>Например</a:t>
            </a:r>
            <a:r>
              <a:rPr lang="en-US" sz="1700" dirty="0"/>
              <a:t>: </a:t>
            </a:r>
            <a:endParaRPr lang="ru-RU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 err="1"/>
              <a:t>Программа</a:t>
            </a:r>
            <a:r>
              <a:rPr lang="en-US" sz="1700" b="1" dirty="0"/>
              <a:t> «</a:t>
            </a:r>
            <a:r>
              <a:rPr lang="en-US" sz="1700" b="1" dirty="0" err="1"/>
              <a:t>Логический</a:t>
            </a:r>
            <a:r>
              <a:rPr lang="en-US" sz="1700" b="1" dirty="0"/>
              <a:t> </a:t>
            </a:r>
            <a:r>
              <a:rPr lang="en-US" sz="1700" b="1" dirty="0" err="1"/>
              <a:t>теоретик</a:t>
            </a:r>
            <a:r>
              <a:rPr lang="en-US" sz="1700" b="1" dirty="0"/>
              <a:t>» (Logic Theorist)</a:t>
            </a:r>
            <a:r>
              <a:rPr lang="en-US" sz="1700" dirty="0"/>
              <a:t>, </a:t>
            </a:r>
            <a:r>
              <a:rPr lang="en-US" sz="1700" dirty="0" err="1"/>
              <a:t>разработанная</a:t>
            </a:r>
            <a:r>
              <a:rPr lang="en-US" sz="1700" dirty="0"/>
              <a:t> в 1955 </a:t>
            </a:r>
            <a:r>
              <a:rPr lang="en-US" sz="1700" dirty="0" err="1"/>
              <a:t>году</a:t>
            </a:r>
            <a:r>
              <a:rPr lang="en-US" sz="1700" dirty="0"/>
              <a:t> </a:t>
            </a:r>
            <a:r>
              <a:rPr lang="en-US" sz="1700" dirty="0" err="1"/>
              <a:t>Алленом</a:t>
            </a:r>
            <a:r>
              <a:rPr lang="en-US" sz="1700" dirty="0"/>
              <a:t> </a:t>
            </a:r>
            <a:r>
              <a:rPr lang="en-US" sz="1700" dirty="0" err="1"/>
              <a:t>Ньюэллом</a:t>
            </a:r>
            <a:r>
              <a:rPr lang="en-US" sz="1700" dirty="0"/>
              <a:t> и </a:t>
            </a:r>
            <a:r>
              <a:rPr lang="en-US" sz="1700" dirty="0" err="1"/>
              <a:t>Гербертом</a:t>
            </a:r>
            <a:r>
              <a:rPr lang="en-US" sz="1700" dirty="0"/>
              <a:t> </a:t>
            </a:r>
            <a:r>
              <a:rPr lang="en-US" sz="1700" dirty="0" err="1"/>
              <a:t>Саймоном</a:t>
            </a:r>
            <a:r>
              <a:rPr lang="en-US" sz="1700" dirty="0"/>
              <a:t>. </a:t>
            </a:r>
            <a:r>
              <a:rPr lang="en-US" sz="1700" dirty="0" err="1"/>
              <a:t>Программа</a:t>
            </a:r>
            <a:r>
              <a:rPr lang="en-US" sz="1700" dirty="0"/>
              <a:t> </a:t>
            </a:r>
            <a:r>
              <a:rPr lang="en-US" sz="1700" dirty="0" err="1"/>
              <a:t>могла</a:t>
            </a:r>
            <a:r>
              <a:rPr lang="en-US" sz="1700" dirty="0"/>
              <a:t> </a:t>
            </a:r>
            <a:r>
              <a:rPr lang="en-US" sz="1700" dirty="0" err="1"/>
              <a:t>доказывать</a:t>
            </a:r>
            <a:r>
              <a:rPr lang="en-US" sz="1700" dirty="0"/>
              <a:t> </a:t>
            </a:r>
            <a:r>
              <a:rPr lang="en-US" sz="1700" dirty="0" err="1"/>
              <a:t>теоремы</a:t>
            </a:r>
            <a:r>
              <a:rPr lang="en-US" sz="1700" dirty="0"/>
              <a:t>, </a:t>
            </a:r>
            <a:r>
              <a:rPr lang="en-US" sz="1700" dirty="0" err="1"/>
              <a:t>что</a:t>
            </a:r>
            <a:r>
              <a:rPr lang="en-US" sz="1700" dirty="0"/>
              <a:t> </a:t>
            </a:r>
            <a:r>
              <a:rPr lang="en-US" sz="1700" dirty="0" err="1"/>
              <a:t>стало</a:t>
            </a:r>
            <a:r>
              <a:rPr lang="en-US" sz="1700" dirty="0"/>
              <a:t> </a:t>
            </a:r>
            <a:r>
              <a:rPr lang="en-US" sz="1700" dirty="0" err="1"/>
              <a:t>достижением</a:t>
            </a:r>
            <a:r>
              <a:rPr lang="en-US" sz="1700" dirty="0"/>
              <a:t> в </a:t>
            </a:r>
            <a:r>
              <a:rPr lang="en-US" sz="1700" dirty="0" err="1"/>
              <a:t>области</a:t>
            </a:r>
            <a:r>
              <a:rPr lang="en-US" sz="1700" dirty="0"/>
              <a:t> </a:t>
            </a:r>
            <a:r>
              <a:rPr lang="en-US" sz="1700" dirty="0" err="1"/>
              <a:t>автоматизации</a:t>
            </a:r>
            <a:r>
              <a:rPr lang="en-US" sz="1700" dirty="0"/>
              <a:t> </a:t>
            </a:r>
            <a:r>
              <a:rPr lang="en-US" sz="1700" dirty="0" err="1"/>
              <a:t>логических</a:t>
            </a:r>
            <a:r>
              <a:rPr lang="en-US" sz="1700" dirty="0"/>
              <a:t> </a:t>
            </a:r>
            <a:r>
              <a:rPr lang="en-US" sz="1700" dirty="0" err="1"/>
              <a:t>рассуждений</a:t>
            </a:r>
            <a:r>
              <a:rPr lang="en-US" sz="17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 err="1"/>
              <a:t>Программа</a:t>
            </a:r>
            <a:r>
              <a:rPr lang="en-US" sz="1700" b="1" dirty="0"/>
              <a:t> «</a:t>
            </a:r>
            <a:r>
              <a:rPr lang="en-US" sz="1700" b="1" dirty="0" err="1"/>
              <a:t>Элиза</a:t>
            </a:r>
            <a:r>
              <a:rPr lang="en-US" sz="1700" b="1" dirty="0"/>
              <a:t>» (ELIZA)</a:t>
            </a:r>
            <a:r>
              <a:rPr lang="en-US" sz="1700" dirty="0"/>
              <a:t>, </a:t>
            </a:r>
            <a:r>
              <a:rPr lang="en-US" sz="1700" dirty="0" err="1"/>
              <a:t>созданная</a:t>
            </a:r>
            <a:r>
              <a:rPr lang="en-US" sz="1700" dirty="0"/>
              <a:t> </a:t>
            </a:r>
            <a:r>
              <a:rPr lang="en-US" sz="1700" dirty="0" err="1"/>
              <a:t>Джозефом</a:t>
            </a:r>
            <a:r>
              <a:rPr lang="en-US" sz="1700" dirty="0"/>
              <a:t> </a:t>
            </a:r>
            <a:r>
              <a:rPr lang="en-US" sz="1700" dirty="0" err="1"/>
              <a:t>Вейценбаумом</a:t>
            </a:r>
            <a:r>
              <a:rPr lang="en-US" sz="1700" dirty="0"/>
              <a:t> в 1966 </a:t>
            </a:r>
            <a:r>
              <a:rPr lang="en-US" sz="1700" dirty="0" err="1"/>
              <a:t>году</a:t>
            </a:r>
            <a:r>
              <a:rPr lang="en-US" sz="1700" dirty="0"/>
              <a:t>. </a:t>
            </a:r>
            <a:r>
              <a:rPr lang="en-US" sz="1700" dirty="0" err="1"/>
              <a:t>Имитировала</a:t>
            </a:r>
            <a:r>
              <a:rPr lang="en-US" sz="1700" dirty="0"/>
              <a:t> </a:t>
            </a:r>
            <a:r>
              <a:rPr lang="en-US" sz="1700" dirty="0" err="1"/>
              <a:t>поведение</a:t>
            </a:r>
            <a:r>
              <a:rPr lang="en-US" sz="1700" dirty="0"/>
              <a:t> </a:t>
            </a:r>
            <a:r>
              <a:rPr lang="en-US" sz="1700" dirty="0" err="1"/>
              <a:t>психотерапевта</a:t>
            </a:r>
            <a:r>
              <a:rPr lang="en-US" sz="1700" dirty="0"/>
              <a:t>, </a:t>
            </a:r>
            <a:r>
              <a:rPr lang="en-US" sz="1700" dirty="0" err="1"/>
              <a:t>ведя</a:t>
            </a:r>
            <a:r>
              <a:rPr lang="en-US" sz="1700" dirty="0"/>
              <a:t> </a:t>
            </a:r>
            <a:r>
              <a:rPr lang="en-US" sz="1700" dirty="0" err="1"/>
              <a:t>диалог</a:t>
            </a:r>
            <a:r>
              <a:rPr lang="en-US" sz="1700" dirty="0"/>
              <a:t> с </a:t>
            </a:r>
            <a:r>
              <a:rPr lang="en-US" sz="1700" dirty="0" err="1"/>
              <a:t>пользователем</a:t>
            </a:r>
            <a:r>
              <a:rPr lang="en-US" sz="1700" dirty="0"/>
              <a:t>. </a:t>
            </a:r>
            <a:r>
              <a:rPr lang="en-US" sz="1700" dirty="0" err="1"/>
              <a:t>Хотя</a:t>
            </a:r>
            <a:r>
              <a:rPr lang="en-US" sz="1700" dirty="0"/>
              <a:t> </a:t>
            </a:r>
            <a:r>
              <a:rPr lang="en-US" sz="1700" dirty="0" err="1"/>
              <a:t>программа</a:t>
            </a:r>
            <a:r>
              <a:rPr lang="en-US" sz="1700" dirty="0"/>
              <a:t> </a:t>
            </a:r>
            <a:r>
              <a:rPr lang="en-US" sz="1700" dirty="0" err="1"/>
              <a:t>была</a:t>
            </a:r>
            <a:r>
              <a:rPr lang="en-US" sz="1700" dirty="0"/>
              <a:t> </a:t>
            </a:r>
            <a:r>
              <a:rPr lang="en-US" sz="1700" dirty="0" err="1"/>
              <a:t>простой</a:t>
            </a:r>
            <a:r>
              <a:rPr lang="en-US" sz="1700" dirty="0"/>
              <a:t>, </a:t>
            </a:r>
            <a:r>
              <a:rPr lang="en-US" sz="1700" dirty="0" err="1"/>
              <a:t>она</a:t>
            </a:r>
            <a:r>
              <a:rPr lang="en-US" sz="1700" dirty="0"/>
              <a:t> </a:t>
            </a:r>
            <a:r>
              <a:rPr lang="en-US" sz="1700" dirty="0" err="1"/>
              <a:t>продемонстрировала</a:t>
            </a:r>
            <a:r>
              <a:rPr lang="en-US" sz="1700" dirty="0"/>
              <a:t> </a:t>
            </a:r>
            <a:r>
              <a:rPr lang="en-US" sz="1700" dirty="0" err="1"/>
              <a:t>потенциал</a:t>
            </a:r>
            <a:r>
              <a:rPr lang="en-US" sz="1700" dirty="0"/>
              <a:t> </a:t>
            </a:r>
            <a:r>
              <a:rPr lang="en-US" sz="1700" dirty="0" err="1"/>
              <a:t>машин</a:t>
            </a:r>
            <a:r>
              <a:rPr lang="en-US" sz="1700" dirty="0"/>
              <a:t> </a:t>
            </a:r>
            <a:r>
              <a:rPr lang="en-US" sz="1700" dirty="0" err="1"/>
              <a:t>для</a:t>
            </a:r>
            <a:r>
              <a:rPr lang="en-US" sz="1700" dirty="0"/>
              <a:t> </a:t>
            </a:r>
            <a:r>
              <a:rPr lang="en-US" sz="1700" dirty="0" err="1"/>
              <a:t>обработки</a:t>
            </a:r>
            <a:r>
              <a:rPr lang="en-US" sz="1700" dirty="0"/>
              <a:t> </a:t>
            </a:r>
            <a:r>
              <a:rPr lang="en-US" sz="1700" dirty="0" err="1"/>
              <a:t>естественного</a:t>
            </a:r>
            <a:r>
              <a:rPr lang="en-US" sz="1700" dirty="0"/>
              <a:t> </a:t>
            </a:r>
            <a:r>
              <a:rPr lang="en-US" sz="1700" dirty="0" err="1"/>
              <a:t>языка</a:t>
            </a:r>
            <a:r>
              <a:rPr lang="en-US" sz="1700" dirty="0"/>
              <a:t> и </a:t>
            </a:r>
            <a:r>
              <a:rPr lang="en-US" sz="1700" dirty="0" err="1"/>
              <a:t>взаимодействия</a:t>
            </a:r>
            <a:r>
              <a:rPr lang="en-US" sz="1700" dirty="0"/>
              <a:t> с </a:t>
            </a:r>
            <a:r>
              <a:rPr lang="en-US" sz="1700" dirty="0" err="1"/>
              <a:t>людьми</a:t>
            </a:r>
            <a:r>
              <a:rPr lang="en-US" sz="17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921340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95AD5-7F9C-5D16-B1FE-9B0AC9501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Кибернетика в медицине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E07934-649B-00B3-834F-88F695FAA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900" dirty="0" err="1"/>
              <a:t>Медицинская</a:t>
            </a:r>
            <a:r>
              <a:rPr lang="en-US" sz="1900" dirty="0"/>
              <a:t> </a:t>
            </a:r>
            <a:r>
              <a:rPr lang="en-US" sz="1900" dirty="0" err="1"/>
              <a:t>кибернетика</a:t>
            </a:r>
            <a:r>
              <a:rPr lang="en-US" sz="1900" dirty="0"/>
              <a:t> - </a:t>
            </a:r>
            <a:r>
              <a:rPr lang="en-US" sz="1900" dirty="0" err="1"/>
              <a:t>это</a:t>
            </a:r>
            <a:r>
              <a:rPr lang="en-US" sz="1900" dirty="0"/>
              <a:t> </a:t>
            </a:r>
            <a:r>
              <a:rPr lang="en-US" sz="1900" dirty="0" err="1"/>
              <a:t>междисциплинарная</a:t>
            </a:r>
            <a:r>
              <a:rPr lang="en-US" sz="1900" dirty="0"/>
              <a:t> </a:t>
            </a:r>
            <a:r>
              <a:rPr lang="en-US" sz="1900" dirty="0" err="1"/>
              <a:t>область</a:t>
            </a:r>
            <a:r>
              <a:rPr lang="en-US" sz="1900" dirty="0"/>
              <a:t>, </a:t>
            </a:r>
            <a:r>
              <a:rPr lang="en-US" sz="1900" dirty="0" err="1"/>
              <a:t>которая</a:t>
            </a:r>
            <a:r>
              <a:rPr lang="en-US" sz="1900" dirty="0"/>
              <a:t> </a:t>
            </a:r>
            <a:r>
              <a:rPr lang="en-US" sz="1900" dirty="0" err="1"/>
              <a:t>объединяет</a:t>
            </a:r>
            <a:r>
              <a:rPr lang="en-US" sz="1900" dirty="0"/>
              <a:t> </a:t>
            </a:r>
            <a:r>
              <a:rPr lang="en-US" sz="1900" dirty="0" err="1"/>
              <a:t>знания</a:t>
            </a:r>
            <a:r>
              <a:rPr lang="en-US" sz="1900" dirty="0"/>
              <a:t> </a:t>
            </a:r>
            <a:r>
              <a:rPr lang="en-US" sz="1900" dirty="0" err="1"/>
              <a:t>из</a:t>
            </a:r>
            <a:r>
              <a:rPr lang="en-US" sz="1900" dirty="0"/>
              <a:t> </a:t>
            </a:r>
            <a:r>
              <a:rPr lang="en-US" sz="1900" dirty="0" err="1"/>
              <a:t>медицины</a:t>
            </a:r>
            <a:r>
              <a:rPr lang="en-US" sz="1900" dirty="0"/>
              <a:t>, </a:t>
            </a:r>
            <a:r>
              <a:rPr lang="en-US" sz="1900" dirty="0" err="1"/>
              <a:t>биологии</a:t>
            </a:r>
            <a:r>
              <a:rPr lang="en-US" sz="1900" dirty="0"/>
              <a:t>, </a:t>
            </a:r>
            <a:r>
              <a:rPr lang="en-US" sz="1900" dirty="0" err="1"/>
              <a:t>информатики</a:t>
            </a:r>
            <a:r>
              <a:rPr lang="en-US" sz="1900" dirty="0"/>
              <a:t> и </a:t>
            </a:r>
            <a:r>
              <a:rPr lang="en-US" sz="1900" dirty="0" err="1"/>
              <a:t>инженерии</a:t>
            </a:r>
            <a:r>
              <a:rPr lang="en-US" sz="1900" dirty="0"/>
              <a:t> </a:t>
            </a:r>
            <a:r>
              <a:rPr lang="en-US" sz="1900" dirty="0" err="1"/>
              <a:t>для</a:t>
            </a:r>
            <a:r>
              <a:rPr lang="en-US" sz="1900" dirty="0"/>
              <a:t> </a:t>
            </a:r>
            <a:r>
              <a:rPr lang="en-US" sz="1900" dirty="0" err="1"/>
              <a:t>разработки</a:t>
            </a:r>
            <a:r>
              <a:rPr lang="en-US" sz="1900" dirty="0"/>
              <a:t> и </a:t>
            </a:r>
            <a:r>
              <a:rPr lang="en-US" sz="1900" dirty="0" err="1"/>
              <a:t>применения</a:t>
            </a:r>
            <a:r>
              <a:rPr lang="en-US" sz="1900" dirty="0"/>
              <a:t> </a:t>
            </a:r>
            <a:r>
              <a:rPr lang="en-US" sz="1900" dirty="0" err="1"/>
              <a:t>компьютерных</a:t>
            </a:r>
            <a:r>
              <a:rPr lang="en-US" sz="1900" dirty="0"/>
              <a:t> </a:t>
            </a:r>
            <a:r>
              <a:rPr lang="en-US" sz="1900" dirty="0" err="1"/>
              <a:t>технологий</a:t>
            </a:r>
            <a:r>
              <a:rPr lang="en-US" sz="1900" dirty="0"/>
              <a:t> и </a:t>
            </a:r>
            <a:r>
              <a:rPr lang="en-US" sz="1900" dirty="0" err="1"/>
              <a:t>математических</a:t>
            </a:r>
            <a:r>
              <a:rPr lang="en-US" sz="1900" dirty="0"/>
              <a:t> </a:t>
            </a:r>
            <a:r>
              <a:rPr lang="en-US" sz="1900" dirty="0" err="1"/>
              <a:t>методов</a:t>
            </a:r>
            <a:r>
              <a:rPr lang="en-US" sz="1900" dirty="0"/>
              <a:t> в </a:t>
            </a:r>
            <a:r>
              <a:rPr lang="en-US" sz="1900" dirty="0" err="1"/>
              <a:t>медицинских</a:t>
            </a:r>
            <a:r>
              <a:rPr lang="en-US" sz="1900" dirty="0"/>
              <a:t> </a:t>
            </a:r>
            <a:r>
              <a:rPr lang="en-US" sz="1900" dirty="0" err="1"/>
              <a:t>исследованиях</a:t>
            </a:r>
            <a:r>
              <a:rPr lang="en-US" sz="1900" dirty="0"/>
              <a:t>, </a:t>
            </a:r>
            <a:r>
              <a:rPr lang="en-US" sz="1900" dirty="0" err="1"/>
              <a:t>диагностике</a:t>
            </a:r>
            <a:r>
              <a:rPr lang="en-US" sz="1900" dirty="0"/>
              <a:t> и </a:t>
            </a:r>
            <a:r>
              <a:rPr lang="en-US" sz="1900" dirty="0" err="1"/>
              <a:t>лечении</a:t>
            </a:r>
            <a:r>
              <a:rPr lang="en-US" sz="1900" dirty="0"/>
              <a:t>. </a:t>
            </a:r>
          </a:p>
          <a:p>
            <a:pPr marL="0" indent="0">
              <a:buNone/>
            </a:pPr>
            <a:br>
              <a:rPr lang="en-US" sz="1900" dirty="0">
                <a:hlinkClick r:id="rId2"/>
              </a:rPr>
            </a:br>
            <a:endParaRPr lang="en-US" sz="19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2145949-1606-01E6-4C6B-1DCA38EA93C7}"/>
              </a:ext>
            </a:extLst>
          </p:cNvPr>
          <p:cNvSpPr txBox="1"/>
          <p:nvPr/>
        </p:nvSpPr>
        <p:spPr>
          <a:xfrm>
            <a:off x="8222022" y="1412489"/>
            <a:ext cx="3427283" cy="4363844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 err="1"/>
              <a:t>Некоторые</a:t>
            </a:r>
            <a:r>
              <a:rPr lang="en-US" sz="2900" dirty="0"/>
              <a:t> </a:t>
            </a:r>
            <a:r>
              <a:rPr lang="en-US" sz="2900" dirty="0" err="1"/>
              <a:t>направления</a:t>
            </a:r>
            <a:r>
              <a:rPr lang="en-US" sz="2900" dirty="0"/>
              <a:t> </a:t>
            </a:r>
            <a:r>
              <a:rPr lang="en-US" sz="2900" dirty="0" err="1"/>
              <a:t>медицинской</a:t>
            </a:r>
            <a:r>
              <a:rPr lang="en-US" sz="2900" dirty="0"/>
              <a:t> </a:t>
            </a:r>
            <a:r>
              <a:rPr lang="en-US" sz="2900" dirty="0" err="1"/>
              <a:t>кибернетики</a:t>
            </a:r>
            <a:r>
              <a:rPr lang="en-US" sz="29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 err="1"/>
              <a:t>Клиническая</a:t>
            </a:r>
            <a:r>
              <a:rPr lang="en-US" sz="2900" dirty="0"/>
              <a:t> </a:t>
            </a:r>
            <a:r>
              <a:rPr lang="en-US" sz="2900" dirty="0" err="1"/>
              <a:t>информатика</a:t>
            </a:r>
            <a:r>
              <a:rPr lang="ru-RU" sz="2900" dirty="0"/>
              <a:t> -</a:t>
            </a:r>
            <a:r>
              <a:rPr lang="en-US" sz="2900" dirty="0"/>
              <a:t> </a:t>
            </a:r>
            <a:r>
              <a:rPr lang="en-US" sz="2900" dirty="0" err="1"/>
              <a:t>Занимается</a:t>
            </a:r>
            <a:r>
              <a:rPr lang="en-US" sz="2900" dirty="0"/>
              <a:t> </a:t>
            </a:r>
            <a:r>
              <a:rPr lang="en-US" sz="2900" dirty="0" err="1"/>
              <a:t>разработкой</a:t>
            </a:r>
            <a:r>
              <a:rPr lang="en-US" sz="2900" dirty="0"/>
              <a:t> и </a:t>
            </a:r>
            <a:r>
              <a:rPr lang="en-US" sz="2900" dirty="0" err="1"/>
              <a:t>внедрением</a:t>
            </a:r>
            <a:r>
              <a:rPr lang="en-US" sz="2900" dirty="0"/>
              <a:t> </a:t>
            </a:r>
            <a:r>
              <a:rPr lang="en-US" sz="2900" dirty="0" err="1"/>
              <a:t>информационных</a:t>
            </a:r>
            <a:r>
              <a:rPr lang="en-US" sz="2900" dirty="0"/>
              <a:t> </a:t>
            </a:r>
            <a:r>
              <a:rPr lang="en-US" sz="2900" dirty="0" err="1"/>
              <a:t>систем</a:t>
            </a:r>
            <a:r>
              <a:rPr lang="en-US" sz="2900" dirty="0"/>
              <a:t> в </a:t>
            </a:r>
            <a:r>
              <a:rPr lang="en-US" sz="2900" dirty="0" err="1"/>
              <a:t>медицинских</a:t>
            </a:r>
            <a:r>
              <a:rPr lang="en-US" sz="2900" dirty="0"/>
              <a:t> </a:t>
            </a:r>
            <a:r>
              <a:rPr lang="en-US" sz="2900" dirty="0" err="1"/>
              <a:t>учреждениях</a:t>
            </a:r>
            <a:r>
              <a:rPr lang="en-US" sz="29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 err="1"/>
              <a:t>Биомедицинская</a:t>
            </a:r>
            <a:r>
              <a:rPr lang="en-US" sz="2900" dirty="0"/>
              <a:t> </a:t>
            </a:r>
            <a:r>
              <a:rPr lang="en-US" sz="2900" dirty="0" err="1"/>
              <a:t>статистика</a:t>
            </a:r>
            <a:r>
              <a:rPr lang="ru-RU" sz="2900" dirty="0"/>
              <a:t> -</a:t>
            </a:r>
            <a:r>
              <a:rPr lang="en-US" sz="2900" dirty="0"/>
              <a:t> </a:t>
            </a:r>
            <a:r>
              <a:rPr lang="en-US" sz="2900" dirty="0" err="1"/>
              <a:t>Специализируется</a:t>
            </a:r>
            <a:r>
              <a:rPr lang="en-US" sz="2900" dirty="0"/>
              <a:t> </a:t>
            </a:r>
            <a:r>
              <a:rPr lang="en-US" sz="2900" dirty="0" err="1"/>
              <a:t>на</a:t>
            </a:r>
            <a:r>
              <a:rPr lang="en-US" sz="2900" dirty="0"/>
              <a:t> </a:t>
            </a:r>
            <a:r>
              <a:rPr lang="en-US" sz="2900" dirty="0" err="1"/>
              <a:t>анализе</a:t>
            </a:r>
            <a:r>
              <a:rPr lang="en-US" sz="2900" dirty="0"/>
              <a:t> </a:t>
            </a:r>
            <a:r>
              <a:rPr lang="en-US" sz="2900" dirty="0" err="1"/>
              <a:t>медицинских</a:t>
            </a:r>
            <a:r>
              <a:rPr lang="en-US" sz="2900" dirty="0"/>
              <a:t> </a:t>
            </a:r>
            <a:r>
              <a:rPr lang="en-US" sz="2900" dirty="0" err="1"/>
              <a:t>данных</a:t>
            </a:r>
            <a:r>
              <a:rPr lang="en-US" sz="2900" dirty="0"/>
              <a:t> и </a:t>
            </a:r>
            <a:r>
              <a:rPr lang="en-US" sz="2900" dirty="0" err="1"/>
              <a:t>планировании</a:t>
            </a:r>
            <a:r>
              <a:rPr lang="en-US" sz="2900" dirty="0"/>
              <a:t> </a:t>
            </a:r>
            <a:r>
              <a:rPr lang="en-US" sz="2900" dirty="0" err="1"/>
              <a:t>клинических</a:t>
            </a:r>
            <a:r>
              <a:rPr lang="en-US" sz="2900" dirty="0"/>
              <a:t> </a:t>
            </a:r>
            <a:r>
              <a:rPr lang="en-US" sz="2900" dirty="0" err="1"/>
              <a:t>исследований</a:t>
            </a:r>
            <a:r>
              <a:rPr lang="en-US" sz="29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 err="1"/>
              <a:t>Медицинские</a:t>
            </a:r>
            <a:r>
              <a:rPr lang="en-US" sz="2900" dirty="0"/>
              <a:t> </a:t>
            </a:r>
            <a:r>
              <a:rPr lang="en-US" sz="2900" dirty="0" err="1"/>
              <a:t>экспертные</a:t>
            </a:r>
            <a:r>
              <a:rPr lang="en-US" sz="2900" dirty="0"/>
              <a:t> </a:t>
            </a:r>
            <a:r>
              <a:rPr lang="en-US" sz="2900" dirty="0" err="1"/>
              <a:t>системы</a:t>
            </a:r>
            <a:r>
              <a:rPr lang="ru-RU" sz="2900" dirty="0"/>
              <a:t> -</a:t>
            </a:r>
            <a:r>
              <a:rPr lang="en-US" sz="2900" dirty="0"/>
              <a:t> </a:t>
            </a:r>
            <a:r>
              <a:rPr lang="en-US" sz="2900" dirty="0" err="1"/>
              <a:t>Фокусируются</a:t>
            </a:r>
            <a:r>
              <a:rPr lang="en-US" sz="2900" dirty="0"/>
              <a:t> </a:t>
            </a:r>
            <a:r>
              <a:rPr lang="en-US" sz="2900" dirty="0" err="1"/>
              <a:t>на</a:t>
            </a:r>
            <a:r>
              <a:rPr lang="en-US" sz="2900" dirty="0"/>
              <a:t> </a:t>
            </a:r>
            <a:r>
              <a:rPr lang="en-US" sz="2900" dirty="0" err="1"/>
              <a:t>создании</a:t>
            </a:r>
            <a:r>
              <a:rPr lang="en-US" sz="2900" dirty="0"/>
              <a:t> </a:t>
            </a:r>
            <a:r>
              <a:rPr lang="en-US" sz="2900" dirty="0" err="1"/>
              <a:t>систем</a:t>
            </a:r>
            <a:r>
              <a:rPr lang="en-US" sz="2900" dirty="0"/>
              <a:t> </a:t>
            </a:r>
            <a:r>
              <a:rPr lang="en-US" sz="2900" dirty="0" err="1"/>
              <a:t>поддержки</a:t>
            </a:r>
            <a:r>
              <a:rPr lang="en-US" sz="2900" dirty="0"/>
              <a:t> </a:t>
            </a:r>
            <a:r>
              <a:rPr lang="en-US" sz="2900" dirty="0" err="1"/>
              <a:t>принятия</a:t>
            </a:r>
            <a:r>
              <a:rPr lang="en-US" sz="2900" dirty="0"/>
              <a:t> </a:t>
            </a:r>
            <a:r>
              <a:rPr lang="en-US" sz="2900" dirty="0" err="1"/>
              <a:t>врачебных</a:t>
            </a:r>
            <a:r>
              <a:rPr lang="en-US" sz="2900" dirty="0"/>
              <a:t> </a:t>
            </a:r>
            <a:r>
              <a:rPr lang="en-US" sz="2900" dirty="0" err="1"/>
              <a:t>решений</a:t>
            </a:r>
            <a:r>
              <a:rPr lang="en-US" sz="29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 err="1"/>
              <a:t>Телемедицинские</a:t>
            </a:r>
            <a:r>
              <a:rPr lang="en-US" sz="2900" dirty="0"/>
              <a:t> </a:t>
            </a:r>
            <a:r>
              <a:rPr lang="en-US" sz="2900" dirty="0" err="1"/>
              <a:t>технологии</a:t>
            </a:r>
            <a:r>
              <a:rPr lang="ru-RU" sz="2900" dirty="0"/>
              <a:t> -</a:t>
            </a:r>
            <a:r>
              <a:rPr lang="en-US" sz="2900" dirty="0"/>
              <a:t> </a:t>
            </a:r>
            <a:r>
              <a:rPr lang="en-US" sz="2900" dirty="0" err="1"/>
              <a:t>Развивают</a:t>
            </a:r>
            <a:r>
              <a:rPr lang="en-US" sz="2900" dirty="0"/>
              <a:t> </a:t>
            </a:r>
            <a:r>
              <a:rPr lang="en-US" sz="2900" dirty="0" err="1"/>
              <a:t>системы</a:t>
            </a:r>
            <a:r>
              <a:rPr lang="en-US" sz="2900" dirty="0"/>
              <a:t> </a:t>
            </a:r>
            <a:r>
              <a:rPr lang="en-US" sz="2900" dirty="0" err="1"/>
              <a:t>дистанционного</a:t>
            </a:r>
            <a:r>
              <a:rPr lang="en-US" sz="2900" dirty="0"/>
              <a:t> </a:t>
            </a:r>
            <a:r>
              <a:rPr lang="en-US" sz="2900" dirty="0" err="1"/>
              <a:t>мониторинга</a:t>
            </a:r>
            <a:r>
              <a:rPr lang="en-US" sz="2900" dirty="0"/>
              <a:t> и </a:t>
            </a:r>
            <a:r>
              <a:rPr lang="en-US" sz="2900" dirty="0" err="1"/>
              <a:t>консультирования</a:t>
            </a:r>
            <a:r>
              <a:rPr lang="en-US" sz="2900" dirty="0"/>
              <a:t> </a:t>
            </a:r>
            <a:r>
              <a:rPr lang="en-US" sz="2900" dirty="0" err="1"/>
              <a:t>пациентов</a:t>
            </a:r>
            <a:r>
              <a:rPr lang="en-US" sz="29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dirty="0" err="1"/>
              <a:t>Биомедицинское</a:t>
            </a:r>
            <a:r>
              <a:rPr lang="en-US" sz="2900" dirty="0"/>
              <a:t> </a:t>
            </a:r>
            <a:r>
              <a:rPr lang="en-US" sz="2900" dirty="0" err="1"/>
              <a:t>моделирование</a:t>
            </a:r>
            <a:r>
              <a:rPr lang="ru-RU" sz="2900" dirty="0"/>
              <a:t> -</a:t>
            </a:r>
            <a:r>
              <a:rPr lang="en-US" sz="2900" dirty="0"/>
              <a:t> </a:t>
            </a:r>
            <a:r>
              <a:rPr lang="en-US" sz="2900" dirty="0" err="1"/>
              <a:t>Создаёт</a:t>
            </a:r>
            <a:r>
              <a:rPr lang="en-US" sz="2900" dirty="0"/>
              <a:t> </a:t>
            </a:r>
            <a:r>
              <a:rPr lang="en-US" sz="2900" dirty="0" err="1"/>
              <a:t>математические</a:t>
            </a:r>
            <a:r>
              <a:rPr lang="en-US" sz="2900" dirty="0"/>
              <a:t> </a:t>
            </a:r>
            <a:r>
              <a:rPr lang="en-US" sz="2900" dirty="0" err="1"/>
              <a:t>модели</a:t>
            </a:r>
            <a:r>
              <a:rPr lang="en-US" sz="2900" dirty="0"/>
              <a:t> </a:t>
            </a:r>
            <a:r>
              <a:rPr lang="en-US" sz="2900" dirty="0" err="1"/>
              <a:t>физиологических</a:t>
            </a:r>
            <a:r>
              <a:rPr lang="en-US" sz="2900" dirty="0"/>
              <a:t> </a:t>
            </a:r>
            <a:r>
              <a:rPr lang="en-US" sz="2900" dirty="0" err="1"/>
              <a:t>процессов</a:t>
            </a:r>
            <a:r>
              <a:rPr lang="en-US" sz="2900" dirty="0"/>
              <a:t> и </a:t>
            </a:r>
            <a:r>
              <a:rPr lang="en-US" sz="2900" dirty="0" err="1"/>
              <a:t>заболеваний</a:t>
            </a:r>
            <a:r>
              <a:rPr lang="en-US" sz="29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6481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CAF54-A973-BA5E-B35F-58E16913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ru-RU" sz="3700" dirty="0"/>
              <a:t>Кибернетика сегодня: от роботов до «умного дома»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5B220B-C78F-4C11-2973-78375CF8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828" y="2118263"/>
            <a:ext cx="6023067" cy="43816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400" dirty="0"/>
              <a:t>Сегодня кибернетика продолжает развиваться и находит применение в различных сферах. </a:t>
            </a:r>
            <a:r>
              <a:rPr lang="ru-RU" sz="1400"/>
              <a:t>Некоторые </a:t>
            </a:r>
            <a:r>
              <a:rPr lang="ru-RU" sz="1400" dirty="0"/>
              <a:t>области использования:</a:t>
            </a:r>
          </a:p>
          <a:p>
            <a:r>
              <a:rPr lang="ru-RU" sz="1400" b="1" dirty="0"/>
              <a:t>Промышленность</a:t>
            </a:r>
            <a:r>
              <a:rPr lang="ru-RU" sz="1400" dirty="0"/>
              <a:t>. Кибернетические системы помогают автоматизировать процессы, делают их быстрее и эффективнее.</a:t>
            </a:r>
          </a:p>
          <a:p>
            <a:r>
              <a:rPr lang="ru-RU" sz="1400" b="1" dirty="0"/>
              <a:t>Транспорт</a:t>
            </a:r>
            <a:r>
              <a:rPr lang="ru-RU" sz="1400" dirty="0"/>
              <a:t>. Автоматические системы управления водным, воздушным и наземным транспортом значительно улучшают безопасность и эффективность перевозок.</a:t>
            </a:r>
          </a:p>
          <a:p>
            <a:r>
              <a:rPr lang="ru-RU" sz="1400" b="1" dirty="0"/>
              <a:t>Медицина и биология</a:t>
            </a:r>
            <a:r>
              <a:rPr lang="ru-RU" sz="1400" dirty="0"/>
              <a:t>. Кибернетика используется для создания протезов, управления биологическими процессами и исследования генома.</a:t>
            </a:r>
          </a:p>
          <a:p>
            <a:r>
              <a:rPr lang="ru-RU" sz="1400" b="1" dirty="0"/>
              <a:t>Военные разработки</a:t>
            </a:r>
            <a:r>
              <a:rPr lang="ru-RU" sz="1400" dirty="0"/>
              <a:t>. Например, экзоскелеты, которые увеличивают силу и выносливость солдат.</a:t>
            </a:r>
          </a:p>
          <a:p>
            <a:r>
              <a:rPr lang="ru-RU" sz="1400" b="1" dirty="0"/>
              <a:t>Нейроинтерфейсы</a:t>
            </a:r>
            <a:r>
              <a:rPr lang="ru-RU" sz="1400" dirty="0"/>
              <a:t>. Системы, позволяющие человеку управлять машинами напрямую с помощью мозга.</a:t>
            </a:r>
          </a:p>
          <a:p>
            <a:r>
              <a:rPr lang="ru-RU" sz="1400" b="1" dirty="0"/>
              <a:t>Быт</a:t>
            </a:r>
            <a:r>
              <a:rPr lang="ru-RU" sz="1400" dirty="0"/>
              <a:t>. «Умный дом», который сам регулирует отопление, освещение и другое. </a:t>
            </a:r>
          </a:p>
        </p:txBody>
      </p:sp>
      <p:pic>
        <p:nvPicPr>
          <p:cNvPr id="5" name="Picture 4" descr="Доставка жужжать, в которой разноситься пакет в хранилище">
            <a:extLst>
              <a:ext uri="{FF2B5EF4-FFF2-40B4-BE49-F238E27FC236}">
                <a16:creationId xmlns:a16="http://schemas.microsoft.com/office/drawing/2014/main" id="{BA53F2E8-5E24-E3BD-969F-DE41AEE47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22" r="2302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44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8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9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00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19BBE-7F37-71CE-0515-FCD5DCC38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Спасибо за внимание!</a:t>
            </a:r>
          </a:p>
        </p:txBody>
      </p:sp>
      <p:sp>
        <p:nvSpPr>
          <p:cNvPr id="201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2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3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5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6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290802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907</Words>
  <Application>Microsoft Office PowerPoint</Application>
  <PresentationFormat>Широкоэкранный</PresentationFormat>
  <Paragraphs>52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Тема Office</vt:lpstr>
      <vt:lpstr>Кибернетика: Наука об управлении и связи</vt:lpstr>
      <vt:lpstr>Что такое кибернетика </vt:lpstr>
      <vt:lpstr>Рождение современной Кибернетики</vt:lpstr>
      <vt:lpstr>Обратная связь – основа управления</vt:lpstr>
      <vt:lpstr>Метод «Чёрного ящика» </vt:lpstr>
      <vt:lpstr>Междисциплинарность кибернетики</vt:lpstr>
      <vt:lpstr>Кибернетика и ИИ. От управления к мышлению</vt:lpstr>
      <vt:lpstr>Кибернетика в медицине </vt:lpstr>
      <vt:lpstr>Кибернетика сегодня: от роботов до «умного дома»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Белек Абдилатов</cp:lastModifiedBy>
  <cp:revision>2</cp:revision>
  <dcterms:created xsi:type="dcterms:W3CDTF">2025-03-23T17:24:13Z</dcterms:created>
  <dcterms:modified xsi:type="dcterms:W3CDTF">2025-12-22T02:34:10Z</dcterms:modified>
</cp:coreProperties>
</file>