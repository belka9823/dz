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B7E93-3448-4EDA-9239-574D3E4D2914}" v="33" dt="2026-03-04T06:35:49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36D278-1F09-4267-ACCE-A74E6B1F89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CB8AFE-7A55-41B4-9349-162DFC503821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CAD (Computer-Aided Design):Что это: Системы автоматизированного проектирования.Функция: Создание 3D-геометрии детали, сборка узлов, выпуск конструкторской документации. Именно здесь рождается «цифровой двойник».</a:t>
          </a:r>
          <a:endParaRPr lang="en-US"/>
        </a:p>
      </dgm:t>
    </dgm:pt>
    <dgm:pt modelId="{34EDCDA8-073D-46B6-BC76-854CD36A499D}" type="parTrans" cxnId="{50344540-4A5F-4EEE-9888-B19E7529A799}">
      <dgm:prSet/>
      <dgm:spPr/>
      <dgm:t>
        <a:bodyPr/>
        <a:lstStyle/>
        <a:p>
          <a:endParaRPr lang="en-US"/>
        </a:p>
      </dgm:t>
    </dgm:pt>
    <dgm:pt modelId="{65EFD573-983A-4C72-82D5-32A9327544C2}" type="sibTrans" cxnId="{50344540-4A5F-4EEE-9888-B19E7529A799}">
      <dgm:prSet/>
      <dgm:spPr/>
      <dgm:t>
        <a:bodyPr/>
        <a:lstStyle/>
        <a:p>
          <a:endParaRPr lang="en-US"/>
        </a:p>
      </dgm:t>
    </dgm:pt>
    <dgm:pt modelId="{C7FB1FD2-6DBD-4003-A444-BF9195577AAF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CAE (Computer-Aided Engineering):Что это: Системы инженерного анализа и расчетов.Функция: Виртуальные испытания. Проверка на прочность, аэродинамику, тепловые нагрузки. Позволяет отказаться от постройки десятков дорогих физических прототипов.</a:t>
          </a:r>
          <a:endParaRPr lang="en-US"/>
        </a:p>
      </dgm:t>
    </dgm:pt>
    <dgm:pt modelId="{90A44204-8A74-4AB6-9F76-5D6F9B65DF27}" type="parTrans" cxnId="{304F2948-08FC-4889-9981-24668BEA1B75}">
      <dgm:prSet/>
      <dgm:spPr/>
      <dgm:t>
        <a:bodyPr/>
        <a:lstStyle/>
        <a:p>
          <a:endParaRPr lang="en-US"/>
        </a:p>
      </dgm:t>
    </dgm:pt>
    <dgm:pt modelId="{8AF087F9-D99B-408D-97CB-8464114C07F4}" type="sibTrans" cxnId="{304F2948-08FC-4889-9981-24668BEA1B75}">
      <dgm:prSet/>
      <dgm:spPr/>
      <dgm:t>
        <a:bodyPr/>
        <a:lstStyle/>
        <a:p>
          <a:endParaRPr lang="en-US"/>
        </a:p>
      </dgm:t>
    </dgm:pt>
    <dgm:pt modelId="{319DF52E-EB2F-4EAE-8EAB-62B0FA1B2552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CAM (Computer-Aided Manufacturing):Что это: Системы подготовки производства.Функция: Превращение 3D-модели в управляющие программы для станков с ЧПУ и роботов.</a:t>
          </a:r>
          <a:endParaRPr lang="en-US"/>
        </a:p>
      </dgm:t>
    </dgm:pt>
    <dgm:pt modelId="{4DF978F4-53C3-4059-A1D4-5AFF7E0FD895}" type="parTrans" cxnId="{D403624B-8E41-403E-8089-9066F75DBF32}">
      <dgm:prSet/>
      <dgm:spPr/>
      <dgm:t>
        <a:bodyPr/>
        <a:lstStyle/>
        <a:p>
          <a:endParaRPr lang="en-US"/>
        </a:p>
      </dgm:t>
    </dgm:pt>
    <dgm:pt modelId="{6A46FFC6-471A-4746-AE62-5D85E2A7D4C7}" type="sibTrans" cxnId="{D403624B-8E41-403E-8089-9066F75DBF32}">
      <dgm:prSet/>
      <dgm:spPr/>
      <dgm:t>
        <a:bodyPr/>
        <a:lstStyle/>
        <a:p>
          <a:endParaRPr lang="en-US"/>
        </a:p>
      </dgm:t>
    </dgm:pt>
    <dgm:pt modelId="{91F46406-F18C-4557-9C9C-429FCB05CC38}" type="pres">
      <dgm:prSet presAssocID="{8836D278-1F09-4267-ACCE-A74E6B1F89C3}" presName="root" presStyleCnt="0">
        <dgm:presLayoutVars>
          <dgm:dir/>
          <dgm:resizeHandles val="exact"/>
        </dgm:presLayoutVars>
      </dgm:prSet>
      <dgm:spPr/>
    </dgm:pt>
    <dgm:pt modelId="{3F9FD54F-7B15-400A-881B-F7B50CD3E32A}" type="pres">
      <dgm:prSet presAssocID="{D4CB8AFE-7A55-41B4-9349-162DFC503821}" presName="compNode" presStyleCnt="0"/>
      <dgm:spPr/>
    </dgm:pt>
    <dgm:pt modelId="{1801AE01-8E02-434F-A85E-E28A506B5495}" type="pres">
      <dgm:prSet presAssocID="{D4CB8AFE-7A55-41B4-9349-162DFC503821}" presName="bgRect" presStyleLbl="bgShp" presStyleIdx="0" presStyleCnt="3"/>
      <dgm:spPr/>
    </dgm:pt>
    <dgm:pt modelId="{912AFDF6-9D35-45EE-84A5-D46E4D7F3B82}" type="pres">
      <dgm:prSet presAssocID="{D4CB8AFE-7A55-41B4-9349-162DFC5038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рограммист"/>
        </a:ext>
      </dgm:extLst>
    </dgm:pt>
    <dgm:pt modelId="{7E08A243-59C4-4C36-A756-F976D878CC83}" type="pres">
      <dgm:prSet presAssocID="{D4CB8AFE-7A55-41B4-9349-162DFC503821}" presName="spaceRect" presStyleCnt="0"/>
      <dgm:spPr/>
    </dgm:pt>
    <dgm:pt modelId="{D9A54B4E-3DCF-4B57-99C5-A47C2452F143}" type="pres">
      <dgm:prSet presAssocID="{D4CB8AFE-7A55-41B4-9349-162DFC503821}" presName="parTx" presStyleLbl="revTx" presStyleIdx="0" presStyleCnt="3">
        <dgm:presLayoutVars>
          <dgm:chMax val="0"/>
          <dgm:chPref val="0"/>
        </dgm:presLayoutVars>
      </dgm:prSet>
      <dgm:spPr/>
    </dgm:pt>
    <dgm:pt modelId="{80F763A1-73CE-4C82-BD7D-1426E3DE75A6}" type="pres">
      <dgm:prSet presAssocID="{65EFD573-983A-4C72-82D5-32A9327544C2}" presName="sibTrans" presStyleCnt="0"/>
      <dgm:spPr/>
    </dgm:pt>
    <dgm:pt modelId="{25BF950D-1C59-4CEA-8EDC-7A5A3D9FC61F}" type="pres">
      <dgm:prSet presAssocID="{C7FB1FD2-6DBD-4003-A444-BF9195577AAF}" presName="compNode" presStyleCnt="0"/>
      <dgm:spPr/>
    </dgm:pt>
    <dgm:pt modelId="{A68F692E-EF07-40C6-AF31-FF324C3EE3FB}" type="pres">
      <dgm:prSet presAssocID="{C7FB1FD2-6DBD-4003-A444-BF9195577AAF}" presName="bgRect" presStyleLbl="bgShp" presStyleIdx="1" presStyleCnt="3"/>
      <dgm:spPr/>
    </dgm:pt>
    <dgm:pt modelId="{6E9B51A3-FA70-4662-9C6D-1F57DC05E37F}" type="pres">
      <dgm:prSet presAssocID="{C7FB1FD2-6DBD-4003-A444-BF9195577AA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06490941-60FB-4F82-994B-87D475C55B14}" type="pres">
      <dgm:prSet presAssocID="{C7FB1FD2-6DBD-4003-A444-BF9195577AAF}" presName="spaceRect" presStyleCnt="0"/>
      <dgm:spPr/>
    </dgm:pt>
    <dgm:pt modelId="{CA5A1E64-EB4B-4601-9CD8-7748E9581D7B}" type="pres">
      <dgm:prSet presAssocID="{C7FB1FD2-6DBD-4003-A444-BF9195577AAF}" presName="parTx" presStyleLbl="revTx" presStyleIdx="1" presStyleCnt="3">
        <dgm:presLayoutVars>
          <dgm:chMax val="0"/>
          <dgm:chPref val="0"/>
        </dgm:presLayoutVars>
      </dgm:prSet>
      <dgm:spPr/>
    </dgm:pt>
    <dgm:pt modelId="{47D83A24-7ADF-4614-AB24-84BD381A1602}" type="pres">
      <dgm:prSet presAssocID="{8AF087F9-D99B-408D-97CB-8464114C07F4}" presName="sibTrans" presStyleCnt="0"/>
      <dgm:spPr/>
    </dgm:pt>
    <dgm:pt modelId="{EFC31FDC-CB34-4C3E-B938-5C7DC30705CE}" type="pres">
      <dgm:prSet presAssocID="{319DF52E-EB2F-4EAE-8EAB-62B0FA1B2552}" presName="compNode" presStyleCnt="0"/>
      <dgm:spPr/>
    </dgm:pt>
    <dgm:pt modelId="{EC4A46C5-F1D6-443E-8904-F3493F0D6555}" type="pres">
      <dgm:prSet presAssocID="{319DF52E-EB2F-4EAE-8EAB-62B0FA1B2552}" presName="bgRect" presStyleLbl="bgShp" presStyleIdx="2" presStyleCnt="3"/>
      <dgm:spPr/>
    </dgm:pt>
    <dgm:pt modelId="{AEDEB219-A5EA-47C9-9FA6-D82FD85D8DDD}" type="pres">
      <dgm:prSet presAssocID="{319DF52E-EB2F-4EAE-8EAB-62B0FA1B255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Сварщик"/>
        </a:ext>
      </dgm:extLst>
    </dgm:pt>
    <dgm:pt modelId="{97F191DC-F412-46DE-BD7E-950A81685CEE}" type="pres">
      <dgm:prSet presAssocID="{319DF52E-EB2F-4EAE-8EAB-62B0FA1B2552}" presName="spaceRect" presStyleCnt="0"/>
      <dgm:spPr/>
    </dgm:pt>
    <dgm:pt modelId="{917D86AD-434F-441A-A02D-F8BE3CA5F07F}" type="pres">
      <dgm:prSet presAssocID="{319DF52E-EB2F-4EAE-8EAB-62B0FA1B255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014B002-911D-4FC5-89A1-A7CCF54115F7}" type="presOf" srcId="{319DF52E-EB2F-4EAE-8EAB-62B0FA1B2552}" destId="{917D86AD-434F-441A-A02D-F8BE3CA5F07F}" srcOrd="0" destOrd="0" presId="urn:microsoft.com/office/officeart/2018/2/layout/IconVerticalSolidList"/>
    <dgm:cxn modelId="{50344540-4A5F-4EEE-9888-B19E7529A799}" srcId="{8836D278-1F09-4267-ACCE-A74E6B1F89C3}" destId="{D4CB8AFE-7A55-41B4-9349-162DFC503821}" srcOrd="0" destOrd="0" parTransId="{34EDCDA8-073D-46B6-BC76-854CD36A499D}" sibTransId="{65EFD573-983A-4C72-82D5-32A9327544C2}"/>
    <dgm:cxn modelId="{304F2948-08FC-4889-9981-24668BEA1B75}" srcId="{8836D278-1F09-4267-ACCE-A74E6B1F89C3}" destId="{C7FB1FD2-6DBD-4003-A444-BF9195577AAF}" srcOrd="1" destOrd="0" parTransId="{90A44204-8A74-4AB6-9F76-5D6F9B65DF27}" sibTransId="{8AF087F9-D99B-408D-97CB-8464114C07F4}"/>
    <dgm:cxn modelId="{D403624B-8E41-403E-8089-9066F75DBF32}" srcId="{8836D278-1F09-4267-ACCE-A74E6B1F89C3}" destId="{319DF52E-EB2F-4EAE-8EAB-62B0FA1B2552}" srcOrd="2" destOrd="0" parTransId="{4DF978F4-53C3-4059-A1D4-5AFF7E0FD895}" sibTransId="{6A46FFC6-471A-4746-AE62-5D85E2A7D4C7}"/>
    <dgm:cxn modelId="{D4351977-4DE0-4BBA-BE90-50C831E16DA6}" type="presOf" srcId="{D4CB8AFE-7A55-41B4-9349-162DFC503821}" destId="{D9A54B4E-3DCF-4B57-99C5-A47C2452F143}" srcOrd="0" destOrd="0" presId="urn:microsoft.com/office/officeart/2018/2/layout/IconVerticalSolidList"/>
    <dgm:cxn modelId="{BD043D8E-EFD7-4138-ACB4-0D1C92AFD260}" type="presOf" srcId="{C7FB1FD2-6DBD-4003-A444-BF9195577AAF}" destId="{CA5A1E64-EB4B-4601-9CD8-7748E9581D7B}" srcOrd="0" destOrd="0" presId="urn:microsoft.com/office/officeart/2018/2/layout/IconVerticalSolidList"/>
    <dgm:cxn modelId="{A6042FBA-C253-4504-8D30-498946CB56C3}" type="presOf" srcId="{8836D278-1F09-4267-ACCE-A74E6B1F89C3}" destId="{91F46406-F18C-4557-9C9C-429FCB05CC38}" srcOrd="0" destOrd="0" presId="urn:microsoft.com/office/officeart/2018/2/layout/IconVerticalSolidList"/>
    <dgm:cxn modelId="{643EDB48-2B6D-4CE1-9FFD-D38E113FC18F}" type="presParOf" srcId="{91F46406-F18C-4557-9C9C-429FCB05CC38}" destId="{3F9FD54F-7B15-400A-881B-F7B50CD3E32A}" srcOrd="0" destOrd="0" presId="urn:microsoft.com/office/officeart/2018/2/layout/IconVerticalSolidList"/>
    <dgm:cxn modelId="{94835E17-E148-4D34-987C-CADE714BC38D}" type="presParOf" srcId="{3F9FD54F-7B15-400A-881B-F7B50CD3E32A}" destId="{1801AE01-8E02-434F-A85E-E28A506B5495}" srcOrd="0" destOrd="0" presId="urn:microsoft.com/office/officeart/2018/2/layout/IconVerticalSolidList"/>
    <dgm:cxn modelId="{60420173-E826-40D3-B8A6-7A01514FDE57}" type="presParOf" srcId="{3F9FD54F-7B15-400A-881B-F7B50CD3E32A}" destId="{912AFDF6-9D35-45EE-84A5-D46E4D7F3B82}" srcOrd="1" destOrd="0" presId="urn:microsoft.com/office/officeart/2018/2/layout/IconVerticalSolidList"/>
    <dgm:cxn modelId="{88658239-284A-457E-B174-06D18B05E2EC}" type="presParOf" srcId="{3F9FD54F-7B15-400A-881B-F7B50CD3E32A}" destId="{7E08A243-59C4-4C36-A756-F976D878CC83}" srcOrd="2" destOrd="0" presId="urn:microsoft.com/office/officeart/2018/2/layout/IconVerticalSolidList"/>
    <dgm:cxn modelId="{47472CCF-5EDC-4C66-8E35-56E68963A5AB}" type="presParOf" srcId="{3F9FD54F-7B15-400A-881B-F7B50CD3E32A}" destId="{D9A54B4E-3DCF-4B57-99C5-A47C2452F143}" srcOrd="3" destOrd="0" presId="urn:microsoft.com/office/officeart/2018/2/layout/IconVerticalSolidList"/>
    <dgm:cxn modelId="{2EB50B4E-BB42-4F36-95BF-E99D86C32371}" type="presParOf" srcId="{91F46406-F18C-4557-9C9C-429FCB05CC38}" destId="{80F763A1-73CE-4C82-BD7D-1426E3DE75A6}" srcOrd="1" destOrd="0" presId="urn:microsoft.com/office/officeart/2018/2/layout/IconVerticalSolidList"/>
    <dgm:cxn modelId="{8DAFD988-852C-4653-A689-127DAAA51CE4}" type="presParOf" srcId="{91F46406-F18C-4557-9C9C-429FCB05CC38}" destId="{25BF950D-1C59-4CEA-8EDC-7A5A3D9FC61F}" srcOrd="2" destOrd="0" presId="urn:microsoft.com/office/officeart/2018/2/layout/IconVerticalSolidList"/>
    <dgm:cxn modelId="{14CF6247-D483-4C7F-963C-F9FF668F5370}" type="presParOf" srcId="{25BF950D-1C59-4CEA-8EDC-7A5A3D9FC61F}" destId="{A68F692E-EF07-40C6-AF31-FF324C3EE3FB}" srcOrd="0" destOrd="0" presId="urn:microsoft.com/office/officeart/2018/2/layout/IconVerticalSolidList"/>
    <dgm:cxn modelId="{9CC44F6D-8D66-41BA-9ED3-75878C77A1D0}" type="presParOf" srcId="{25BF950D-1C59-4CEA-8EDC-7A5A3D9FC61F}" destId="{6E9B51A3-FA70-4662-9C6D-1F57DC05E37F}" srcOrd="1" destOrd="0" presId="urn:microsoft.com/office/officeart/2018/2/layout/IconVerticalSolidList"/>
    <dgm:cxn modelId="{B63E1CA8-95F4-4B6D-ADA7-C0C12311F50D}" type="presParOf" srcId="{25BF950D-1C59-4CEA-8EDC-7A5A3D9FC61F}" destId="{06490941-60FB-4F82-994B-87D475C55B14}" srcOrd="2" destOrd="0" presId="urn:microsoft.com/office/officeart/2018/2/layout/IconVerticalSolidList"/>
    <dgm:cxn modelId="{B3AEF00A-0C73-444A-975C-A9AC3C25FD0A}" type="presParOf" srcId="{25BF950D-1C59-4CEA-8EDC-7A5A3D9FC61F}" destId="{CA5A1E64-EB4B-4601-9CD8-7748E9581D7B}" srcOrd="3" destOrd="0" presId="urn:microsoft.com/office/officeart/2018/2/layout/IconVerticalSolidList"/>
    <dgm:cxn modelId="{E2B69BF9-F664-479B-AA94-42317E4565C2}" type="presParOf" srcId="{91F46406-F18C-4557-9C9C-429FCB05CC38}" destId="{47D83A24-7ADF-4614-AB24-84BD381A1602}" srcOrd="3" destOrd="0" presId="urn:microsoft.com/office/officeart/2018/2/layout/IconVerticalSolidList"/>
    <dgm:cxn modelId="{31EC3E1D-E1E6-4565-8FDA-AF5C035EBDA0}" type="presParOf" srcId="{91F46406-F18C-4557-9C9C-429FCB05CC38}" destId="{EFC31FDC-CB34-4C3E-B938-5C7DC30705CE}" srcOrd="4" destOrd="0" presId="urn:microsoft.com/office/officeart/2018/2/layout/IconVerticalSolidList"/>
    <dgm:cxn modelId="{5FAB84E6-CF85-4A62-A71D-650EFBCCDCD5}" type="presParOf" srcId="{EFC31FDC-CB34-4C3E-B938-5C7DC30705CE}" destId="{EC4A46C5-F1D6-443E-8904-F3493F0D6555}" srcOrd="0" destOrd="0" presId="urn:microsoft.com/office/officeart/2018/2/layout/IconVerticalSolidList"/>
    <dgm:cxn modelId="{ED759BB2-2B6C-428A-A70C-5229937D9DE9}" type="presParOf" srcId="{EFC31FDC-CB34-4C3E-B938-5C7DC30705CE}" destId="{AEDEB219-A5EA-47C9-9FA6-D82FD85D8DDD}" srcOrd="1" destOrd="0" presId="urn:microsoft.com/office/officeart/2018/2/layout/IconVerticalSolidList"/>
    <dgm:cxn modelId="{C7B85D8B-C455-4D53-AEF4-6651F7C2FC3B}" type="presParOf" srcId="{EFC31FDC-CB34-4C3E-B938-5C7DC30705CE}" destId="{97F191DC-F412-46DE-BD7E-950A81685CEE}" srcOrd="2" destOrd="0" presId="urn:microsoft.com/office/officeart/2018/2/layout/IconVerticalSolidList"/>
    <dgm:cxn modelId="{383CABD6-23CE-407C-B0CD-7E74E561830A}" type="presParOf" srcId="{EFC31FDC-CB34-4C3E-B938-5C7DC30705CE}" destId="{917D86AD-434F-441A-A02D-F8BE3CA5F0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A104D6-5C9A-451C-9483-95BAD18A3D2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2D69856-04A4-4460-8C95-1D42111F284A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1. PDM (Product Data Management) — Управление данными об изделии. Это фундамент инженерных </a:t>
          </a:r>
          <a:r>
            <a:rPr lang="ru-RU" dirty="0" err="1"/>
            <a:t>данных.Что</a:t>
          </a:r>
          <a:r>
            <a:rPr lang="ru-RU" dirty="0"/>
            <a:t> делает: Хранит 3D-модели, чертежи, спецификации и историю их изменений. Главная фишка: Управление конфигурациями. Если у одного трактора 10 модификаций (разные двигатели, ковши), PDM четко знает, какая деталь куда идет.</a:t>
          </a:r>
          <a:endParaRPr lang="en-US" dirty="0"/>
        </a:p>
      </dgm:t>
    </dgm:pt>
    <dgm:pt modelId="{6889D1B3-00F3-4FA0-99DF-F6D65E91DAAC}" type="parTrans" cxnId="{4EEFF706-9185-4B67-B7B8-9B4EBD1C02C5}">
      <dgm:prSet/>
      <dgm:spPr/>
      <dgm:t>
        <a:bodyPr/>
        <a:lstStyle/>
        <a:p>
          <a:endParaRPr lang="en-US"/>
        </a:p>
      </dgm:t>
    </dgm:pt>
    <dgm:pt modelId="{180BA8CB-AD71-4237-80A0-5DE61DA7D554}" type="sibTrans" cxnId="{4EEFF706-9185-4B67-B7B8-9B4EBD1C02C5}">
      <dgm:prSet/>
      <dgm:spPr/>
      <dgm:t>
        <a:bodyPr/>
        <a:lstStyle/>
        <a:p>
          <a:endParaRPr lang="en-US"/>
        </a:p>
      </dgm:t>
    </dgm:pt>
    <dgm:pt modelId="{820AB612-5572-4DC2-9DF8-17F582BFB14F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2. ERP (Enterprise Resource Planning) — Планирование ресурсов предприятия. Это бизнес-логика и ресурсы.Что делает: Управляет финансами, закупками, складом и кадрами.</a:t>
          </a:r>
          <a:endParaRPr lang="en-US"/>
        </a:p>
      </dgm:t>
    </dgm:pt>
    <dgm:pt modelId="{8D7C82A1-7892-4EE8-9D0C-F369537D0391}" type="parTrans" cxnId="{F8CFD6D6-2804-486D-8887-74FBCA3732CE}">
      <dgm:prSet/>
      <dgm:spPr/>
      <dgm:t>
        <a:bodyPr/>
        <a:lstStyle/>
        <a:p>
          <a:endParaRPr lang="en-US"/>
        </a:p>
      </dgm:t>
    </dgm:pt>
    <dgm:pt modelId="{9DDA1642-C5E2-440D-8988-138B64F705CA}" type="sibTrans" cxnId="{F8CFD6D6-2804-486D-8887-74FBCA3732CE}">
      <dgm:prSet/>
      <dgm:spPr/>
      <dgm:t>
        <a:bodyPr/>
        <a:lstStyle/>
        <a:p>
          <a:endParaRPr lang="en-US"/>
        </a:p>
      </dgm:t>
    </dgm:pt>
    <dgm:pt modelId="{926BFC7B-9962-4D57-A2EF-5786899ECF63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3. PLM (Product Lifecycle Management) — Управление жизненным цикломЭто стратегическая оболочка, объединяющая всё вышеперечисленное. Она управляет продуктом «от идеи до свалки». Она связывает инженерные данные (PDM) с бизнес-процессами (ERP) и сервисной поддержкой.</a:t>
          </a:r>
          <a:endParaRPr lang="en-US"/>
        </a:p>
      </dgm:t>
    </dgm:pt>
    <dgm:pt modelId="{A82805DD-7294-4CA6-BFB3-D1F0600B359B}" type="parTrans" cxnId="{17A5E0E5-92C1-4251-B006-FD927D490D4C}">
      <dgm:prSet/>
      <dgm:spPr/>
      <dgm:t>
        <a:bodyPr/>
        <a:lstStyle/>
        <a:p>
          <a:endParaRPr lang="en-US"/>
        </a:p>
      </dgm:t>
    </dgm:pt>
    <dgm:pt modelId="{A2D3DE56-22E0-4ACA-BE2C-E8EBE032F7F0}" type="sibTrans" cxnId="{17A5E0E5-92C1-4251-B006-FD927D490D4C}">
      <dgm:prSet/>
      <dgm:spPr/>
      <dgm:t>
        <a:bodyPr/>
        <a:lstStyle/>
        <a:p>
          <a:endParaRPr lang="en-US"/>
        </a:p>
      </dgm:t>
    </dgm:pt>
    <dgm:pt modelId="{C1ED464F-7C1F-44B2-BE10-2D8C9F8216B7}" type="pres">
      <dgm:prSet presAssocID="{32A104D6-5C9A-451C-9483-95BAD18A3D23}" presName="root" presStyleCnt="0">
        <dgm:presLayoutVars>
          <dgm:dir/>
          <dgm:resizeHandles val="exact"/>
        </dgm:presLayoutVars>
      </dgm:prSet>
      <dgm:spPr/>
    </dgm:pt>
    <dgm:pt modelId="{D01FB912-AE57-4EB2-9FB8-100FD297730A}" type="pres">
      <dgm:prSet presAssocID="{52D69856-04A4-4460-8C95-1D42111F284A}" presName="compNode" presStyleCnt="0"/>
      <dgm:spPr/>
    </dgm:pt>
    <dgm:pt modelId="{FCB15E28-2AF3-4549-92F6-A00F51D24E4B}" type="pres">
      <dgm:prSet presAssocID="{52D69856-04A4-4460-8C95-1D42111F284A}" presName="bgRect" presStyleLbl="bgShp" presStyleIdx="0" presStyleCnt="3"/>
      <dgm:spPr/>
    </dgm:pt>
    <dgm:pt modelId="{D19006B1-CBC4-425C-BEBD-BAB49577AD1E}" type="pres">
      <dgm:prSet presAssocID="{52D69856-04A4-4460-8C95-1D42111F28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Иерархия"/>
        </a:ext>
      </dgm:extLst>
    </dgm:pt>
    <dgm:pt modelId="{C02659F4-0FE6-4D21-A878-DD3369D5DED7}" type="pres">
      <dgm:prSet presAssocID="{52D69856-04A4-4460-8C95-1D42111F284A}" presName="spaceRect" presStyleCnt="0"/>
      <dgm:spPr/>
    </dgm:pt>
    <dgm:pt modelId="{77609E04-EF33-4FFB-A522-4D188BD7D3AE}" type="pres">
      <dgm:prSet presAssocID="{52D69856-04A4-4460-8C95-1D42111F284A}" presName="parTx" presStyleLbl="revTx" presStyleIdx="0" presStyleCnt="3">
        <dgm:presLayoutVars>
          <dgm:chMax val="0"/>
          <dgm:chPref val="0"/>
        </dgm:presLayoutVars>
      </dgm:prSet>
      <dgm:spPr/>
    </dgm:pt>
    <dgm:pt modelId="{01066154-DB65-46E0-A3F5-9B26C84CFA91}" type="pres">
      <dgm:prSet presAssocID="{180BA8CB-AD71-4237-80A0-5DE61DA7D554}" presName="sibTrans" presStyleCnt="0"/>
      <dgm:spPr/>
    </dgm:pt>
    <dgm:pt modelId="{1B058931-0E1E-4B52-B404-40AF9B351742}" type="pres">
      <dgm:prSet presAssocID="{820AB612-5572-4DC2-9DF8-17F582BFB14F}" presName="compNode" presStyleCnt="0"/>
      <dgm:spPr/>
    </dgm:pt>
    <dgm:pt modelId="{C09A8604-1905-495D-B2BD-2FBD714E2BDA}" type="pres">
      <dgm:prSet presAssocID="{820AB612-5572-4DC2-9DF8-17F582BFB14F}" presName="bgRect" presStyleLbl="bgShp" presStyleIdx="1" presStyleCnt="3"/>
      <dgm:spPr>
        <a:solidFill>
          <a:schemeClr val="accent1">
            <a:lumMod val="40000"/>
            <a:lumOff val="60000"/>
          </a:schemeClr>
        </a:solidFill>
      </dgm:spPr>
    </dgm:pt>
    <dgm:pt modelId="{8FA8DA56-8158-47D6-9380-7C8F3A436B29}" type="pres">
      <dgm:prSet presAssocID="{820AB612-5572-4DC2-9DF8-17F582BFB1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роцессор"/>
        </a:ext>
      </dgm:extLst>
    </dgm:pt>
    <dgm:pt modelId="{41FCED0B-A4AA-4D89-BA33-C939E9561E19}" type="pres">
      <dgm:prSet presAssocID="{820AB612-5572-4DC2-9DF8-17F582BFB14F}" presName="spaceRect" presStyleCnt="0"/>
      <dgm:spPr/>
    </dgm:pt>
    <dgm:pt modelId="{F1315BA1-6635-4EDC-BE59-386F0577C975}" type="pres">
      <dgm:prSet presAssocID="{820AB612-5572-4DC2-9DF8-17F582BFB14F}" presName="parTx" presStyleLbl="revTx" presStyleIdx="1" presStyleCnt="3">
        <dgm:presLayoutVars>
          <dgm:chMax val="0"/>
          <dgm:chPref val="0"/>
        </dgm:presLayoutVars>
      </dgm:prSet>
      <dgm:spPr/>
    </dgm:pt>
    <dgm:pt modelId="{35AF8D25-77E3-4838-BAAF-3AFA3E3E7DFD}" type="pres">
      <dgm:prSet presAssocID="{9DDA1642-C5E2-440D-8988-138B64F705CA}" presName="sibTrans" presStyleCnt="0"/>
      <dgm:spPr/>
    </dgm:pt>
    <dgm:pt modelId="{10C01A25-5109-4BC3-A2C3-5C05CC818E81}" type="pres">
      <dgm:prSet presAssocID="{926BFC7B-9962-4D57-A2EF-5786899ECF63}" presName="compNode" presStyleCnt="0"/>
      <dgm:spPr/>
    </dgm:pt>
    <dgm:pt modelId="{74446289-7335-47FB-8AB7-3643E71C19D5}" type="pres">
      <dgm:prSet presAssocID="{926BFC7B-9962-4D57-A2EF-5786899ECF63}" presName="bgRect" presStyleLbl="bgShp" presStyleIdx="2" presStyleCnt="3"/>
      <dgm:spPr>
        <a:solidFill>
          <a:schemeClr val="accent6">
            <a:lumMod val="40000"/>
            <a:lumOff val="60000"/>
          </a:schemeClr>
        </a:solidFill>
      </dgm:spPr>
    </dgm:pt>
    <dgm:pt modelId="{D167D102-9DED-4FD7-9B40-8AE6E528A9C5}" type="pres">
      <dgm:prSet presAssocID="{926BFC7B-9962-4D57-A2EF-5786899ECF6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ользователи"/>
        </a:ext>
      </dgm:extLst>
    </dgm:pt>
    <dgm:pt modelId="{37DC8A34-8221-469C-9416-972CB5D7AE30}" type="pres">
      <dgm:prSet presAssocID="{926BFC7B-9962-4D57-A2EF-5786899ECF63}" presName="spaceRect" presStyleCnt="0"/>
      <dgm:spPr/>
    </dgm:pt>
    <dgm:pt modelId="{B7B673C1-799E-48CE-A801-0E82C906EE37}" type="pres">
      <dgm:prSet presAssocID="{926BFC7B-9962-4D57-A2EF-5786899ECF6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EFF706-9185-4B67-B7B8-9B4EBD1C02C5}" srcId="{32A104D6-5C9A-451C-9483-95BAD18A3D23}" destId="{52D69856-04A4-4460-8C95-1D42111F284A}" srcOrd="0" destOrd="0" parTransId="{6889D1B3-00F3-4FA0-99DF-F6D65E91DAAC}" sibTransId="{180BA8CB-AD71-4237-80A0-5DE61DA7D554}"/>
    <dgm:cxn modelId="{D0158322-AD65-46C6-89B9-28B9EF3007C6}" type="presOf" srcId="{52D69856-04A4-4460-8C95-1D42111F284A}" destId="{77609E04-EF33-4FFB-A522-4D188BD7D3AE}" srcOrd="0" destOrd="0" presId="urn:microsoft.com/office/officeart/2018/2/layout/IconVerticalSolidList"/>
    <dgm:cxn modelId="{28D29E95-48B7-402F-8A8F-A73E5E38111C}" type="presOf" srcId="{32A104D6-5C9A-451C-9483-95BAD18A3D23}" destId="{C1ED464F-7C1F-44B2-BE10-2D8C9F8216B7}" srcOrd="0" destOrd="0" presId="urn:microsoft.com/office/officeart/2018/2/layout/IconVerticalSolidList"/>
    <dgm:cxn modelId="{7B95FCB6-D87D-49B0-9DC9-9AE582929F9B}" type="presOf" srcId="{926BFC7B-9962-4D57-A2EF-5786899ECF63}" destId="{B7B673C1-799E-48CE-A801-0E82C906EE37}" srcOrd="0" destOrd="0" presId="urn:microsoft.com/office/officeart/2018/2/layout/IconVerticalSolidList"/>
    <dgm:cxn modelId="{F8CFD6D6-2804-486D-8887-74FBCA3732CE}" srcId="{32A104D6-5C9A-451C-9483-95BAD18A3D23}" destId="{820AB612-5572-4DC2-9DF8-17F582BFB14F}" srcOrd="1" destOrd="0" parTransId="{8D7C82A1-7892-4EE8-9D0C-F369537D0391}" sibTransId="{9DDA1642-C5E2-440D-8988-138B64F705CA}"/>
    <dgm:cxn modelId="{0C1546D7-7E55-4F97-80D0-914FCF64B43D}" type="presOf" srcId="{820AB612-5572-4DC2-9DF8-17F582BFB14F}" destId="{F1315BA1-6635-4EDC-BE59-386F0577C975}" srcOrd="0" destOrd="0" presId="urn:microsoft.com/office/officeart/2018/2/layout/IconVerticalSolidList"/>
    <dgm:cxn modelId="{17A5E0E5-92C1-4251-B006-FD927D490D4C}" srcId="{32A104D6-5C9A-451C-9483-95BAD18A3D23}" destId="{926BFC7B-9962-4D57-A2EF-5786899ECF63}" srcOrd="2" destOrd="0" parTransId="{A82805DD-7294-4CA6-BFB3-D1F0600B359B}" sibTransId="{A2D3DE56-22E0-4ACA-BE2C-E8EBE032F7F0}"/>
    <dgm:cxn modelId="{5EAA1521-0DD3-4FF1-AC4A-0C63F6F72363}" type="presParOf" srcId="{C1ED464F-7C1F-44B2-BE10-2D8C9F8216B7}" destId="{D01FB912-AE57-4EB2-9FB8-100FD297730A}" srcOrd="0" destOrd="0" presId="urn:microsoft.com/office/officeart/2018/2/layout/IconVerticalSolidList"/>
    <dgm:cxn modelId="{B76A708E-6274-4B43-9A35-05F815F05A8B}" type="presParOf" srcId="{D01FB912-AE57-4EB2-9FB8-100FD297730A}" destId="{FCB15E28-2AF3-4549-92F6-A00F51D24E4B}" srcOrd="0" destOrd="0" presId="urn:microsoft.com/office/officeart/2018/2/layout/IconVerticalSolidList"/>
    <dgm:cxn modelId="{9AF843E2-1498-4138-9568-2D4FF3935CDB}" type="presParOf" srcId="{D01FB912-AE57-4EB2-9FB8-100FD297730A}" destId="{D19006B1-CBC4-425C-BEBD-BAB49577AD1E}" srcOrd="1" destOrd="0" presId="urn:microsoft.com/office/officeart/2018/2/layout/IconVerticalSolidList"/>
    <dgm:cxn modelId="{9D5217C1-34D8-43E8-ABE9-BA929918C69A}" type="presParOf" srcId="{D01FB912-AE57-4EB2-9FB8-100FD297730A}" destId="{C02659F4-0FE6-4D21-A878-DD3369D5DED7}" srcOrd="2" destOrd="0" presId="urn:microsoft.com/office/officeart/2018/2/layout/IconVerticalSolidList"/>
    <dgm:cxn modelId="{3AE625EC-27E0-4F40-BDFC-16773484BD39}" type="presParOf" srcId="{D01FB912-AE57-4EB2-9FB8-100FD297730A}" destId="{77609E04-EF33-4FFB-A522-4D188BD7D3AE}" srcOrd="3" destOrd="0" presId="urn:microsoft.com/office/officeart/2018/2/layout/IconVerticalSolidList"/>
    <dgm:cxn modelId="{12CEFA49-8C0D-4B17-BC8D-8D8DF3FAE79F}" type="presParOf" srcId="{C1ED464F-7C1F-44B2-BE10-2D8C9F8216B7}" destId="{01066154-DB65-46E0-A3F5-9B26C84CFA91}" srcOrd="1" destOrd="0" presId="urn:microsoft.com/office/officeart/2018/2/layout/IconVerticalSolidList"/>
    <dgm:cxn modelId="{3E29B4CD-B10F-4903-93B1-73CBEB7906AE}" type="presParOf" srcId="{C1ED464F-7C1F-44B2-BE10-2D8C9F8216B7}" destId="{1B058931-0E1E-4B52-B404-40AF9B351742}" srcOrd="2" destOrd="0" presId="urn:microsoft.com/office/officeart/2018/2/layout/IconVerticalSolidList"/>
    <dgm:cxn modelId="{DA5E4FFA-C837-4118-9091-F314471AF2CF}" type="presParOf" srcId="{1B058931-0E1E-4B52-B404-40AF9B351742}" destId="{C09A8604-1905-495D-B2BD-2FBD714E2BDA}" srcOrd="0" destOrd="0" presId="urn:microsoft.com/office/officeart/2018/2/layout/IconVerticalSolidList"/>
    <dgm:cxn modelId="{25878B02-6B29-4C7B-A850-B6180B867BD4}" type="presParOf" srcId="{1B058931-0E1E-4B52-B404-40AF9B351742}" destId="{8FA8DA56-8158-47D6-9380-7C8F3A436B29}" srcOrd="1" destOrd="0" presId="urn:microsoft.com/office/officeart/2018/2/layout/IconVerticalSolidList"/>
    <dgm:cxn modelId="{339B985D-6A90-436E-9AC8-FA9C213C0A42}" type="presParOf" srcId="{1B058931-0E1E-4B52-B404-40AF9B351742}" destId="{41FCED0B-A4AA-4D89-BA33-C939E9561E19}" srcOrd="2" destOrd="0" presId="urn:microsoft.com/office/officeart/2018/2/layout/IconVerticalSolidList"/>
    <dgm:cxn modelId="{C1C55AD7-8FA7-4E4F-948A-36E25AE91DDB}" type="presParOf" srcId="{1B058931-0E1E-4B52-B404-40AF9B351742}" destId="{F1315BA1-6635-4EDC-BE59-386F0577C975}" srcOrd="3" destOrd="0" presId="urn:microsoft.com/office/officeart/2018/2/layout/IconVerticalSolidList"/>
    <dgm:cxn modelId="{89F44161-2FD0-4CC1-A5E1-9EC031F59AB2}" type="presParOf" srcId="{C1ED464F-7C1F-44B2-BE10-2D8C9F8216B7}" destId="{35AF8D25-77E3-4838-BAAF-3AFA3E3E7DFD}" srcOrd="3" destOrd="0" presId="urn:microsoft.com/office/officeart/2018/2/layout/IconVerticalSolidList"/>
    <dgm:cxn modelId="{423B3809-2F42-4711-BEDA-794537FB7D79}" type="presParOf" srcId="{C1ED464F-7C1F-44B2-BE10-2D8C9F8216B7}" destId="{10C01A25-5109-4BC3-A2C3-5C05CC818E81}" srcOrd="4" destOrd="0" presId="urn:microsoft.com/office/officeart/2018/2/layout/IconVerticalSolidList"/>
    <dgm:cxn modelId="{B47DBBBD-DB44-41D7-A5AB-91F74066126C}" type="presParOf" srcId="{10C01A25-5109-4BC3-A2C3-5C05CC818E81}" destId="{74446289-7335-47FB-8AB7-3643E71C19D5}" srcOrd="0" destOrd="0" presId="urn:microsoft.com/office/officeart/2018/2/layout/IconVerticalSolidList"/>
    <dgm:cxn modelId="{6ECC9D94-FC1F-4D52-8329-5D08C834C67B}" type="presParOf" srcId="{10C01A25-5109-4BC3-A2C3-5C05CC818E81}" destId="{D167D102-9DED-4FD7-9B40-8AE6E528A9C5}" srcOrd="1" destOrd="0" presId="urn:microsoft.com/office/officeart/2018/2/layout/IconVerticalSolidList"/>
    <dgm:cxn modelId="{01F2E0BA-FBDA-44BB-B49E-9B13F3F03F84}" type="presParOf" srcId="{10C01A25-5109-4BC3-A2C3-5C05CC818E81}" destId="{37DC8A34-8221-469C-9416-972CB5D7AE30}" srcOrd="2" destOrd="0" presId="urn:microsoft.com/office/officeart/2018/2/layout/IconVerticalSolidList"/>
    <dgm:cxn modelId="{AA86DD27-C953-452F-9B89-A58D4FBA8DDC}" type="presParOf" srcId="{10C01A25-5109-4BC3-A2C3-5C05CC818E81}" destId="{B7B673C1-799E-48CE-A801-0E82C906EE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1AE01-8E02-434F-A85E-E28A506B5495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AFDF6-9D35-45EE-84A5-D46E4D7F3B82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54B4E-3DCF-4B57-99C5-A47C2452F143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CAD (Computer-Aided Design):Что это: Системы автоматизированного проектирования.Функция: Создание 3D-геометрии детали, сборка узлов, выпуск конструкторской документации. Именно здесь рождается «цифровой двойник».</a:t>
          </a:r>
          <a:endParaRPr lang="en-US" sz="1500" kern="1200"/>
        </a:p>
      </dsp:txBody>
      <dsp:txXfrm>
        <a:off x="1686304" y="623"/>
        <a:ext cx="5530111" cy="1460003"/>
      </dsp:txXfrm>
    </dsp:sp>
    <dsp:sp modelId="{A68F692E-EF07-40C6-AF31-FF324C3EE3FB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B51A3-FA70-4662-9C6D-1F57DC05E37F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A1E64-EB4B-4601-9CD8-7748E9581D7B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CAE (Computer-Aided Engineering):Что это: Системы инженерного анализа и расчетов.Функция: Виртуальные испытания. Проверка на прочность, аэродинамику, тепловые нагрузки. Позволяет отказаться от постройки десятков дорогих физических прототипов.</a:t>
          </a:r>
          <a:endParaRPr lang="en-US" sz="1500" kern="1200"/>
        </a:p>
      </dsp:txBody>
      <dsp:txXfrm>
        <a:off x="1686304" y="1825628"/>
        <a:ext cx="5530111" cy="1460003"/>
      </dsp:txXfrm>
    </dsp:sp>
    <dsp:sp modelId="{EC4A46C5-F1D6-443E-8904-F3493F0D6555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EB219-A5EA-47C9-9FA6-D82FD85D8DDD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D86AD-434F-441A-A02D-F8BE3CA5F07F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CAM (Computer-Aided Manufacturing):Что это: Системы подготовки производства.Функция: Превращение 3D-модели в управляющие программы для станков с ЧПУ и роботов.</a:t>
          </a:r>
          <a:endParaRPr lang="en-US" sz="1500" kern="120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15E28-2AF3-4549-92F6-A00F51D24E4B}">
      <dsp:nvSpPr>
        <dsp:cNvPr id="0" name=""/>
        <dsp:cNvSpPr/>
      </dsp:nvSpPr>
      <dsp:spPr>
        <a:xfrm>
          <a:off x="0" y="3320"/>
          <a:ext cx="7392145" cy="146141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006B1-CBC4-425C-BEBD-BAB49577AD1E}">
      <dsp:nvSpPr>
        <dsp:cNvPr id="0" name=""/>
        <dsp:cNvSpPr/>
      </dsp:nvSpPr>
      <dsp:spPr>
        <a:xfrm>
          <a:off x="442077" y="332138"/>
          <a:ext cx="804562" cy="8037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09E04-EF33-4FFB-A522-4D188BD7D3AE}">
      <dsp:nvSpPr>
        <dsp:cNvPr id="0" name=""/>
        <dsp:cNvSpPr/>
      </dsp:nvSpPr>
      <dsp:spPr>
        <a:xfrm>
          <a:off x="1688717" y="3320"/>
          <a:ext cx="5652278" cy="1552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33" tIns="164333" rIns="164333" bIns="1643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1. PDM (Product Data Management) — Управление данными об изделии. Это фундамент инженерных </a:t>
          </a:r>
          <a:r>
            <a:rPr lang="ru-RU" sz="1400" kern="1200" dirty="0" err="1"/>
            <a:t>данных.Что</a:t>
          </a:r>
          <a:r>
            <a:rPr lang="ru-RU" sz="1400" kern="1200" dirty="0"/>
            <a:t> делает: Хранит 3D-модели, чертежи, спецификации и историю их изменений. Главная фишка: Управление конфигурациями. Если у одного трактора 10 модификаций (разные двигатели, ковши), PDM четко знает, какая деталь куда идет.</a:t>
          </a:r>
          <a:endParaRPr lang="en-US" sz="1400" kern="1200" dirty="0"/>
        </a:p>
      </dsp:txBody>
      <dsp:txXfrm>
        <a:off x="1688717" y="3320"/>
        <a:ext cx="5652278" cy="1552750"/>
      </dsp:txXfrm>
    </dsp:sp>
    <dsp:sp modelId="{C09A8604-1905-495D-B2BD-2FBD714E2BDA}">
      <dsp:nvSpPr>
        <dsp:cNvPr id="0" name=""/>
        <dsp:cNvSpPr/>
      </dsp:nvSpPr>
      <dsp:spPr>
        <a:xfrm>
          <a:off x="0" y="1944259"/>
          <a:ext cx="7392145" cy="1461412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8DA56-8158-47D6-9380-7C8F3A436B29}">
      <dsp:nvSpPr>
        <dsp:cNvPr id="0" name=""/>
        <dsp:cNvSpPr/>
      </dsp:nvSpPr>
      <dsp:spPr>
        <a:xfrm>
          <a:off x="442077" y="2273076"/>
          <a:ext cx="804562" cy="8037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15BA1-6635-4EDC-BE59-386F0577C975}">
      <dsp:nvSpPr>
        <dsp:cNvPr id="0" name=""/>
        <dsp:cNvSpPr/>
      </dsp:nvSpPr>
      <dsp:spPr>
        <a:xfrm>
          <a:off x="1688717" y="1944259"/>
          <a:ext cx="5652278" cy="1552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33" tIns="164333" rIns="164333" bIns="1643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2. ERP (Enterprise Resource Planning) — Планирование ресурсов предприятия. Это бизнес-логика и ресурсы.Что делает: Управляет финансами, закупками, складом и кадрами.</a:t>
          </a:r>
          <a:endParaRPr lang="en-US" sz="1400" kern="1200"/>
        </a:p>
      </dsp:txBody>
      <dsp:txXfrm>
        <a:off x="1688717" y="1944259"/>
        <a:ext cx="5652278" cy="1552750"/>
      </dsp:txXfrm>
    </dsp:sp>
    <dsp:sp modelId="{74446289-7335-47FB-8AB7-3643E71C19D5}">
      <dsp:nvSpPr>
        <dsp:cNvPr id="0" name=""/>
        <dsp:cNvSpPr/>
      </dsp:nvSpPr>
      <dsp:spPr>
        <a:xfrm>
          <a:off x="0" y="3885197"/>
          <a:ext cx="7392145" cy="1461412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7D102-9DED-4FD7-9B40-8AE6E528A9C5}">
      <dsp:nvSpPr>
        <dsp:cNvPr id="0" name=""/>
        <dsp:cNvSpPr/>
      </dsp:nvSpPr>
      <dsp:spPr>
        <a:xfrm>
          <a:off x="442077" y="4214015"/>
          <a:ext cx="804562" cy="8037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673C1-799E-48CE-A801-0E82C906EE37}">
      <dsp:nvSpPr>
        <dsp:cNvPr id="0" name=""/>
        <dsp:cNvSpPr/>
      </dsp:nvSpPr>
      <dsp:spPr>
        <a:xfrm>
          <a:off x="1688717" y="3885197"/>
          <a:ext cx="5652278" cy="1552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33" tIns="164333" rIns="164333" bIns="1643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3. PLM (Product Lifecycle Management) — Управление жизненным цикломЭто стратегическая оболочка, объединяющая всё вышеперечисленное. Она управляет продуктом «от идеи до свалки». Она связывает инженерные данные (PDM) с бизнес-процессами (ERP) и сервисной поддержкой.</a:t>
          </a:r>
          <a:endParaRPr lang="en-US" sz="1400" kern="1200"/>
        </a:p>
      </dsp:txBody>
      <dsp:txXfrm>
        <a:off x="1688717" y="3885197"/>
        <a:ext cx="5652278" cy="1552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BD94D-8F74-4077-BBB5-CB06327D05B9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308FD-B5A1-4C56-B1A4-06B56E54A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1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15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0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6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8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7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7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0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20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70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75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576">
          <p15:clr>
            <a:srgbClr val="F26B43"/>
          </p15:clr>
        </p15:guide>
        <p15:guide id="10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leninka.ru/article/n/cals-tehnologiya-kak-instrument-povysheniya-effektivnosti-raboty-predpriyatiya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5B526-DEF3-789C-32D2-04B62EDBBC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4600" r="9091" b="10528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ru-RU" sz="6000">
                <a:solidFill>
                  <a:srgbClr val="FFFFFF"/>
                </a:solidFill>
              </a:rPr>
              <a:t>Cals-технологии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5455920" cy="1104721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</a:rPr>
              <a:t>Выполнил: Абдиллатов Белек Нариманович</a:t>
            </a:r>
            <a:r>
              <a:rPr lang="ru-RU" sz="1000" dirty="0">
                <a:solidFill>
                  <a:srgbClr val="FFFFFF"/>
                </a:solidFill>
              </a:rPr>
              <a:t>
</a:t>
            </a:r>
          </a:p>
        </p:txBody>
      </p:sp>
      <p:cxnSp>
        <p:nvCxnSpPr>
          <p:cNvPr id="26" name="Straight Connector 2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099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ru-RU" dirty="0"/>
              <a:t>Что такое CALS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6EA665-4AC3-E375-9450-3E4E4B8E5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6" r="46741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/>
              <a:t>CALS(</a:t>
            </a:r>
            <a:r>
              <a:rPr lang="ru-RU" sz="1400"/>
              <a:t>англ. </a:t>
            </a:r>
            <a:r>
              <a:rPr lang="en-US" sz="1400"/>
              <a:t>Continuous Acquisition and Life cycle Support — «</a:t>
            </a:r>
            <a:r>
              <a:rPr lang="ru-RU" sz="1400"/>
              <a:t>непрерывная информационная поддержка поставок и жизненного цикла изделий»</a:t>
            </a:r>
            <a:r>
              <a:rPr lang="en-US" sz="1400" b="1"/>
              <a:t>) - </a:t>
            </a:r>
            <a:r>
              <a:rPr lang="ru-RU" sz="1400" b="1"/>
              <a:t>информационные технологии, используемые в управлении процессами жизненного цикла изделия или системы</a:t>
            </a:r>
            <a:r>
              <a:rPr lang="ru-RU" sz="1400"/>
              <a:t>. В основном применяются для сложных (высокотехнологичных и наукоёмких) образцов продукции машиностроения и иных объектов техники. </a:t>
            </a:r>
            <a:endParaRPr lang="en-US" sz="1400"/>
          </a:p>
          <a:p>
            <a:pPr>
              <a:lnSpc>
                <a:spcPct val="110000"/>
              </a:lnSpc>
            </a:pPr>
            <a:r>
              <a:rPr lang="ru-RU" sz="1400"/>
              <a:t>Суть концепции CALS — </a:t>
            </a:r>
            <a:r>
              <a:rPr lang="ru-RU" sz="1400" b="1"/>
              <a:t>создание единой интегрированной модели изделия</a:t>
            </a:r>
            <a:r>
              <a:rPr lang="ru-RU" sz="1400"/>
              <a:t>, которая отражает все аспекты изделия и сопровождает его на всём протяжении жизненного цикла от замысла до утилизации. </a:t>
            </a:r>
            <a:br>
              <a:rPr lang="ru-RU" sz="1400">
                <a:hlinkClick r:id="rId3"/>
              </a:rPr>
            </a:br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254887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3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/>
              <a:t>Единое информационное пространство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ru-RU" sz="1900"/>
              <a:t>Единое информационное пространство — это совокупность распределенных баз данных, содержащих сведения об изделии, процессах и ресурсах, доступ к которым осуществляется по единым правилам и стандартам.В концепции CALS (ИПИ) именно ЕИП позволяет объединить проектировщиков, производителей и заказчиков в общую цифровую среду.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015EAF-55A3-74D9-6BD9-9AF2E7C9D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5" r="-1" b="1877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57" name="Straight Connector 38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84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2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r>
              <a:rPr lang="ru-RU" sz="3600" dirty="0"/>
              <a:t>Жизненный цикл продукции</a:t>
            </a:r>
          </a:p>
        </p:txBody>
      </p:sp>
      <p:cxnSp>
        <p:nvCxnSpPr>
          <p:cNvPr id="40" name="Straight Connector 27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872777" y="4895270"/>
            <a:ext cx="6658234" cy="1476541"/>
          </a:xfrm>
        </p:spPr>
        <p:txBody>
          <a:bodyPr anchor="ctr">
            <a:normAutofit/>
          </a:bodyPr>
          <a:lstStyle/>
          <a:p>
            <a:pPr lvl="0">
              <a:lnSpc>
                <a:spcPct val="110000"/>
              </a:lnSpc>
            </a:pPr>
            <a:r>
              <a:rPr lang="ru-RU" sz="1400" dirty="0"/>
              <a:t>Жизненный цикл продукции — это совокупность этапов, которые проходит продукт: от формирования концепции и проектирования до эксплуатации и окончательной утилизации в CALS-технологиях управление ЖЦ (через системы PLM) позволяет сохранять и накапливать информацию на каждом шагу, превращая её в интеллектуальный капитал компании.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28F462-AFF2-CE6F-DA42-2C082A6AB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92" y="486190"/>
            <a:ext cx="10985576" cy="40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72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ru-RU" sz="2800"/>
              <a:t>Инструменты проектирования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47DE8627-9AC4-6342-30FE-907AD0838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01392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D41966-5406-8EDD-C56F-C665C7FE3233}"/>
              </a:ext>
            </a:extLst>
          </p:cNvPr>
          <p:cNvSpPr txBox="1"/>
          <p:nvPr/>
        </p:nvSpPr>
        <p:spPr>
          <a:xfrm>
            <a:off x="640080" y="2136809"/>
            <a:ext cx="32710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Проектирование в среде CALS базируется на использовании взаимосвязанных автоматизированных систем. Они позволяют создать полную электронную модель изделия, которая заменяет тысячи бумажных </a:t>
            </a:r>
            <a:r>
              <a:rPr lang="ru-RU" dirty="0" err="1"/>
              <a:t>чертежей.Основные</a:t>
            </a:r>
            <a:r>
              <a:rPr lang="ru-RU" dirty="0"/>
              <a:t> группы инструментов: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896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ru-RU"/>
              <a:t>Системы управления данными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ADA4CDAA-5661-1546-DD0F-1F43F0210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142724"/>
              </p:ext>
            </p:extLst>
          </p:nvPr>
        </p:nvGraphicFramePr>
        <p:xfrm>
          <a:off x="4390658" y="1116531"/>
          <a:ext cx="7392145" cy="5441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8D9808E-2F66-5B02-EA71-9523D18F2495}"/>
              </a:ext>
            </a:extLst>
          </p:cNvPr>
          <p:cNvSpPr txBox="1"/>
          <p:nvPr/>
        </p:nvSpPr>
        <p:spPr>
          <a:xfrm>
            <a:off x="640080" y="3331233"/>
            <a:ext cx="3539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концепции CALS управление информацией строится на иерархии систем. Они обеспечивают порядок в Едином информационном пространстве и делают данные доступными в нужный момент.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422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ru-RU" dirty="0"/>
              <a:t>Проблема совместимости и стандарты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0" y="2610683"/>
            <a:ext cx="5260582" cy="42473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100" dirty="0"/>
              <a:t>1. До появления стандартов: </a:t>
            </a:r>
          </a:p>
          <a:p>
            <a:r>
              <a:rPr lang="ru-RU" sz="2100" b="1" dirty="0"/>
              <a:t>Изоляция данных:</a:t>
            </a:r>
            <a:r>
              <a:rPr lang="ru-RU" sz="2100" dirty="0"/>
              <a:t> Каждая система (CAD, ERP, MES) создавала данные в своем закрытом (проприетарном) формате.</a:t>
            </a:r>
          </a:p>
          <a:p>
            <a:r>
              <a:rPr lang="ru-RU" sz="2100" b="1" dirty="0"/>
              <a:t>Проблема «черного ящика»:</a:t>
            </a:r>
            <a:r>
              <a:rPr lang="ru-RU" sz="2100" dirty="0"/>
              <a:t> Информация, созданная в одной программе, была нечитаема для другой. Для обмена данными требовались уникальные и дорогие программы-конвертеры.</a:t>
            </a:r>
          </a:p>
          <a:p>
            <a:r>
              <a:rPr lang="ru-RU" sz="2100" b="1" dirty="0"/>
              <a:t>Потеря качества:</a:t>
            </a:r>
            <a:r>
              <a:rPr lang="ru-RU" sz="2100" dirty="0"/>
              <a:t> При каждом преобразовании файлов часть инженерной информации (геометрия, атрибуты, допуски) искажалась или терялась.</a:t>
            </a:r>
          </a:p>
          <a:p>
            <a:pPr marL="0" lvl="0" indent="0">
              <a:buNone/>
            </a:pPr>
            <a:endParaRPr lang="ru-R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5DFED1-F644-B5DF-2E57-C58E3DEFB122}"/>
              </a:ext>
            </a:extLst>
          </p:cNvPr>
          <p:cNvSpPr txBox="1"/>
          <p:nvPr/>
        </p:nvSpPr>
        <p:spPr>
          <a:xfrm>
            <a:off x="5368706" y="2610683"/>
            <a:ext cx="65407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 Решение: Создание единого языка (CALS-стандарты)</a:t>
            </a:r>
          </a:p>
          <a:p>
            <a:r>
              <a:rPr lang="ru-RU" dirty="0"/>
              <a:t>Чтобы остановить этот хаос, международное сообщество разработало концепцию CALS (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Acquisition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Life-</a:t>
            </a:r>
            <a:r>
              <a:rPr lang="ru-RU" dirty="0" err="1"/>
              <a:t>cycle</a:t>
            </a:r>
            <a:r>
              <a:rPr lang="ru-RU" dirty="0"/>
              <a:t> Support), в основе которой лежат нейтральные стандарты: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ISO 10303 (STEP):</a:t>
            </a:r>
            <a:r>
              <a:rPr lang="ru-RU" dirty="0"/>
              <a:t> «Сердце» CALS. Этот стандарт позволяет описывать изделие на всех стадиях его жизни независимо от конкретного ПО.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Язык EXPRESS:</a:t>
            </a:r>
            <a:r>
              <a:rPr lang="ru-RU" dirty="0"/>
              <a:t> Специальный язык описания данных, который понимает любая современная инженерная система.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Нейтральный формат:</a:t>
            </a:r>
            <a:r>
              <a:rPr lang="ru-RU" dirty="0"/>
              <a:t> Данные теперь не «принадлежат» программе-разработчику, а хранятся в универсальном виде, доступном всем участникам процесса.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528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F0611-94D4-62BC-0528-EE38259E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66" y="202499"/>
            <a:ext cx="7010098" cy="1097280"/>
          </a:xfrm>
        </p:spPr>
        <p:txBody>
          <a:bodyPr/>
          <a:lstStyle/>
          <a:p>
            <a:r>
              <a:rPr lang="ru-RU" dirty="0"/>
              <a:t>Что даёт внедрение </a:t>
            </a:r>
            <a:r>
              <a:rPr lang="en-US" dirty="0"/>
              <a:t>CALS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260A8A-D2D4-CF05-3BE9-CD0630CED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48" y="1254398"/>
            <a:ext cx="11330223" cy="99033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6400" b="1" dirty="0"/>
              <a:t>1. Создание Единого информационного пространства (ЕИП)</a:t>
            </a:r>
            <a:endParaRPr lang="ru-RU" sz="6400" dirty="0"/>
          </a:p>
          <a:p>
            <a:r>
              <a:rPr lang="ru-RU" sz="6400" dirty="0"/>
              <a:t>Все участники (заказчик, проектировщик, завод, сервис) работают с </a:t>
            </a:r>
            <a:r>
              <a:rPr lang="ru-RU" sz="6400" b="1" dirty="0"/>
              <a:t>эталонной цифровой моделью</a:t>
            </a:r>
            <a:r>
              <a:rPr lang="ru-RU" sz="6400" dirty="0"/>
              <a:t>.</a:t>
            </a:r>
            <a:r>
              <a:rPr lang="en-US" sz="6400" dirty="0"/>
              <a:t> </a:t>
            </a:r>
            <a:r>
              <a:rPr lang="ru-RU" sz="6400" dirty="0"/>
              <a:t>Полное</a:t>
            </a:r>
            <a:endParaRPr lang="en-US" sz="6400" dirty="0"/>
          </a:p>
          <a:p>
            <a:r>
              <a:rPr lang="ru-RU" sz="6400" dirty="0"/>
              <a:t>исключение дублирования и противоречивости данных.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F707F-E48C-47C1-060B-747CBD881D2B}"/>
              </a:ext>
            </a:extLst>
          </p:cNvPr>
          <p:cNvSpPr txBox="1"/>
          <p:nvPr/>
        </p:nvSpPr>
        <p:spPr>
          <a:xfrm>
            <a:off x="431849" y="2472248"/>
            <a:ext cx="110029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2. Сокращение времени выхода на рынок (Time-</a:t>
            </a:r>
            <a:r>
              <a:rPr lang="ru-RU" sz="1600" b="1" dirty="0" err="1"/>
              <a:t>to</a:t>
            </a:r>
            <a:r>
              <a:rPr lang="ru-RU" sz="1600" b="1" dirty="0"/>
              <a:t>-Market)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Ускорение проектирования и подготовки производства на </a:t>
            </a:r>
            <a:r>
              <a:rPr lang="ru-RU" sz="1600" b="1" dirty="0"/>
              <a:t>20–40%</a:t>
            </a:r>
            <a:r>
              <a:rPr lang="ru-RU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Возможность параллельной работы разных отделов над одним узлом изделия.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D8F4E-0775-D63D-BBF1-F2F2AC93E429}"/>
              </a:ext>
            </a:extLst>
          </p:cNvPr>
          <p:cNvSpPr txBox="1"/>
          <p:nvPr/>
        </p:nvSpPr>
        <p:spPr>
          <a:xfrm>
            <a:off x="431849" y="3417199"/>
            <a:ext cx="11840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3. Гарантированная совместимость и преемственность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Независимость от ПО:</a:t>
            </a:r>
            <a:r>
              <a:rPr lang="ru-RU" sz="1600" dirty="0"/>
              <a:t> Данные в формате STEP доступны даже через 20–50 лет, независимо от обновлений программ.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Легкая интеграция в цепочку мировых поставщиков за счет работы по международным стандартам.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74D37-9187-4640-E296-CB3B561F6626}"/>
              </a:ext>
            </a:extLst>
          </p:cNvPr>
          <p:cNvSpPr txBox="1"/>
          <p:nvPr/>
        </p:nvSpPr>
        <p:spPr>
          <a:xfrm>
            <a:off x="431849" y="4339671"/>
            <a:ext cx="11590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4. Радикальное повышение качества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Снижение количества ошибок и правок при передаче данных между этапами ЖЦИ.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Точное прогнозирование затрат на эксплуатацию и ремонт еще на этапе чертежа.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69E553-3799-F9F9-AC1C-F17ABE649AA1}"/>
              </a:ext>
            </a:extLst>
          </p:cNvPr>
          <p:cNvSpPr txBox="1"/>
          <p:nvPr/>
        </p:nvSpPr>
        <p:spPr>
          <a:xfrm>
            <a:off x="431848" y="5283532"/>
            <a:ext cx="117601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5. Снижение издержек на протяжении всего Жизненного Цикла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Уменьшение затрат на бумажный документооборот и бесконечные «переводы» из формата в формат.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Оптимизация логистики и управления запчастями на этапе сервис</a:t>
            </a:r>
          </a:p>
          <a:p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7D574D3-175D-B1EC-BDCC-39EA0C404E3D}"/>
              </a:ext>
            </a:extLst>
          </p:cNvPr>
          <p:cNvCxnSpPr>
            <a:cxnSpLocks/>
          </p:cNvCxnSpPr>
          <p:nvPr/>
        </p:nvCxnSpPr>
        <p:spPr>
          <a:xfrm>
            <a:off x="325925" y="986828"/>
            <a:ext cx="0" cy="561274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65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2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2F8A6-B1C7-0311-7CEC-807C8FDF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ВНИМАНИЕ!</a:t>
            </a: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8041EA-ACD8-F364-6670-949F6D95E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3" r="1" b="13612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56" name="Straight Connector 33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99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Широкоэкранный</PresentationFormat>
  <Paragraphs>46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Arial</vt:lpstr>
      <vt:lpstr>Grandview Display</vt:lpstr>
      <vt:lpstr>DashVTI</vt:lpstr>
      <vt:lpstr>Cals-технологии</vt:lpstr>
      <vt:lpstr>Что такое CALS</vt:lpstr>
      <vt:lpstr>Единое информационное пространство </vt:lpstr>
      <vt:lpstr>Жизненный цикл продукции</vt:lpstr>
      <vt:lpstr>Инструменты проектирования</vt:lpstr>
      <vt:lpstr>Системы управления данными</vt:lpstr>
      <vt:lpstr>Проблема совместимости и стандарты</vt:lpstr>
      <vt:lpstr>Что даёт внедрение CALS?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Cals-технологии</dc:title>
  <dc:creator>Белек Абдилатов</dc:creator>
  <cp:lastModifiedBy>Белек Абдилатов</cp:lastModifiedBy>
  <cp:revision>2</cp:revision>
  <dcterms:created xsi:type="dcterms:W3CDTF">2026-03-02T04:34:17Z</dcterms:created>
  <dcterms:modified xsi:type="dcterms:W3CDTF">2026-03-04T06:44:19Z</dcterms:modified>
</cp:coreProperties>
</file>